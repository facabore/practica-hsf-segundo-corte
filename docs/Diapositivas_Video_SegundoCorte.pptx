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ebf1d8ff-7965-7c52-0be1-7fddd2d8a44a}">
          <p14:sldIdLst>
            <p14:sldId id="256"/>
          </p14:sldIdLst>
        </p14:section>
        <p14:section name="Arquitectura" id="{d475965f-41ed-5d92-d3a2-7b5175257b57}">
          <p14:sldIdLst>
            <p14:sldId id="257"/>
            <p14:sldId id="258"/>
          </p14:sldIdLst>
        </p14:section>
        <p14:section name="Implementación" id="{d1980fc9-6303-5f7a-5288-d266b0e2673d}">
          <p14:sldIdLst>
            <p14:sldId id="259"/>
            <p14:sldId id="260"/>
            <p14:sldId id="261"/>
            <p14:sldId id="262"/>
          </p14:sldIdLst>
        </p14:section>
        <p14:section name="Validación" id="{a3076931-42bd-c58e-084d-77ae73f85af9}">
          <p14:sldIdLst>
            <p14:sldId id="263"/>
            <p14:sldId id="264"/>
            <p14:sldId id="265"/>
          </p14:sldIdLst>
        </p14:section>
        <p14:section name="Preguntas" id="{332513ec-a085-8c4f-a3b5-195409c8178d}">
          <p14:sldIdLst>
            <p14:sldId id="266"/>
            <p14:sldId id="267"/>
          </p14:sldIdLst>
        </p14:section>
        <p14:section name="Cierre" id="{02d786a8-6a34-3f04-9666-e3356ad0415d}">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cámara: rostro visible durante toda la portada]
Hola, mi nombre es [NombreEstudiante], estudiante de Ingeniería en Informática en la Universidad Santo Tomás, código [Codigo]. Este es el video de la entrega dos: la práctica de integración hardware, software y firmware, del segundo corte de Integración de Sistemas de Información. Hoy es [fecha]. En los próximos minutos voy a mostrar el prototipo completo, en ejecución real, no simulado a mano, y voy a responder las preguntas de integración que pide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esta diapositiva o diagramas/arquitectura_capas.svg]
El prototipo recorre las cuatro capas de un sistema informático: hardware, firmware, sistema operativo y software de aplicación. No tuve una placa física disponible, así que el firmware está completamente simulado en Python — una decisión que justifico en el documento técnico, pero que en resumen elegí porque corre igual en cualquier máquina, sin depender de que una placa conecte bien justo el día de esta grabación. Este es el diagrama de capas: el firmware simulado emite datos por un socket TCP, el sistema operativo expone ese socket además de memoria, disco y procesos, y mi aplicación Python valida, clasifica, persiste y reporta.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esta diapositiva o diagramas/flujo_datos.svg]
Y este es el flujo de una lectura individual: desde que el firmware la genera hasta que queda en el CSV y en el reporte, pasando por validación y clasificación — y marcado el punto exacto donde, si algo falla, la aplicación sigue corriendo en vez de caerse.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github.com/Facabore/practica-hsf-segundo-corte con el README renderizado]
Este es el repositorio en GitHub. La estructura separa claramente la aplicación en hsf_app, el firmware simulado, las pruebas, los scripts de demo, los diagramas y la documentación. El README explica cómo instalar las dependencias y cómo correr el sistema completo, con dos terminales: una para el firmware y otra para la aplicación. Todo lo que voy a mostrar en este video se puede reproducir exactamente con estos comandos, en Windows o en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terminal con "python firmware/firmware_simulador.py" corriendo y las tramas JSON visibles]
Acá tengo el firmware simulado corriendo de verdad, no una captura de pantalla. Es un servidor TCP que escucha en el puerto 8765 y, cada segundo, emite una trama JSON con el identificador del dispositivo, temperatura, humedad y vibración. Cada siete ciclos, inyecta deliberadamente una anomalía en una de las tres variables, para que la aplicación tenga algo real que clasificar como condición anómala. Todo esto corre con la librería estándar de Python, sin ninguna dependencia externa ni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editor con hsf_app/ abierto, recorriendo un archivo por responsabilidad]
La aplicación está dividida en módulos con una responsabilidad cada uno, no en un único script. acquisition.py se conecta al firmware por socket y maneja la reconexión si se pierde la conexión. validation.py revisa que cada lectura tenga la estructura, el tipo y el rango correctos. processing.py clasifica cada lectura como normal o anómala comparando contra umbrales operativos. os_resources.py consulta CPU, memoria, disco y variables de entorno del sistema operativo anfitrión. Y app.py orquesta todo ese ciclo: lee, valida, clasifica, persiste, y nunca deja que un error de comunicación, de dato o de escritura tumbe la aplicación completa — eso es exactamente lo que pide el requisito de recuperarse de una falla sin perder el control, y lo voy a demostrar en vivo más adelante con los fallos controlados.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data/lecturas.csv y data/reporte_ejecucion.json reales]
Esta es una corrida real de veinte lecturas. En el CSV se ve cada lectura con su marca de tiempo y su estado: la mayoría normales, y dos marcadas como anómalas, exactamente las que el firmware inyectó a propósito. Y este es el reporte de ejecución en JSON: trae las métricas agregadas — lecturas válidas, anómalas, errores — y además un snapshot real de los recursos del sistema operativo en el momento del cierre: uso de CPU, memoria, disco y el PID del proceso. Ningún dato de este reporte está inventado, es la salida real de haber corrido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terminal ejecutando "pytest tests/ -v" en vivo, 28 en verde; luego docs/Matriz_Pruebas.md]
El proyecto tiene veintiocho pruebas automáticas con pytest, escritas con test primero, implementación después — es decir, TDD real. Las voy a correr ahora mismo [ejecutar pytest tests/ -v en pantalla]. Como se ve, las veintiocho pasan. La matriz de pruebas del documento técnico cruza cada requisito funcional con su prueba automática y, cuando corresponde, con una corrida manual real contra el sistema completo — no son pruebas teóricas, son pruebas que de verdad se ejecutaron.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logs/sistema.log y el fallo 6 de docs/Fallos_Controlados.md]
Este es el log del sistema, con fecha, hora, nivel y evento de cada lectura procesada. Y esto es evidencia real de uno de los seis fallos controlados que exige la guía: maté el proceso del firmware a mitad de una corrida de cuarenta lecturas, y lo volví a levantar unos segundos después. Acá se ve el error real de Windows cuando se cae la conexión, los reintentos con espera creciente, y la línea donde la aplicación confirma que recuperó la conexión — tres coma cincuenta y siete segundos después — y sigue procesando sin que el proceso se haya caído en ningún momento. Los otros cinco fallos, con la misma evidencia real, están documentados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pantalla: esta diapositiva]
Con todas esas corridas medí los indicadores que pide la guía. La disponibilidad de comunicación fue de noventa y siete coma seis por ciento, incluso con una caída real del enlace. La latencia promedio fue de un cuarto de milisegundo, sobre la misma máquina. El noventa y ocho coma cuatro por ciento de los datos recibidos fueron válidos, y el tiempo de recuperación tras la caída fue de tres coma cinco segundos. La tasa de errores agregada queda en seis por ciento, pero solo porque incluye las corridas donde inyecté fallos a propósito: en operación normal fue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cámara: responder cada pregunta en una frase]
Voy a responder, en una frase cada una, las preguntas de integración que pide la guía; el desarrollo completo de cada una está en el documento técnico, sección ocho.
Uno: el hardware ejecuta y ofrece recursos; el firmware decide qué dato generar y cuándo; cada transformación ocurre en una frontera distinta, desde el firmware hasta la persistencia.
Dos: la aplicación usa sockets TCP, sistema de archivos y consultas de CPU, memoria, disco y variables de entorno.
Tres: si el sistema operativo revoca un permiso, la escritura lanza una excepción que mi aplicación captura, cuenta como error y sigue corriendo — lo demostré en vivo en el bloque anterior.
Cuatro: Python da velocidad de desarrollo y manejo de errores expresivo, pero el GIL le impide paralelismo real de CPU, y no sirve para programar firmware de bajo nivel.
Cinco: lo que exige temporización estricta va en firmware; lo que exige lógica de negocio y mantenibilidad va en software de aplicación.
Seis: con cien dispositivos simultáneos, necesitaría un servidor asíncrono y probablemente una cola de mensajes en vez de sockets directos.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cámara: responder cada pregunta en una frase]
Siete: el riesgo principal es tratar el dato externo como código; por eso solo lo parseo como JSON y lo valido campo por campo, nunca lo ejecuto.
Ocho: la integridad se garantiza con marca de tiempo y estado en cada registro, más logs con evento y resultado.
Nueve: los mensajes de error de socket difieren entre Windows y Linux, aunque Python los normaliza a la misma jerarquía de excepciones.
Diez: actualizaría el firmware con una estrategia azul-verde, validando la versión nueva antes de conmutar el tráfico real.
Once: antes de producción, aplicaría pruebas de carga sostenida, de seguridad y de concurrencia real con varios dispositivos.
Doce: el punto único de falla es el socket hacia un único firmware; lo volvería tolerante con redundancia y una cola intermedia entre adquisición y persistencia.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cámara: rostro visible]
Para cerrar: este prototipo demuestra, con evidencia real y no simulada a mano, el recorrido completo que pide la guía, desde el dato que genera el firmware hasta el reporte final, pasando por servicios reales del sistema operativo. La disciplina de pruebas primero no fue un formalismo: encontró un defecto real de tolerancia a fallas antes de la entrega, que corregí antes de grabar este video. Y los seis fallos controlados, ejecutados contra procesos reales, confirman que el sistema cumple el requisito de no perder el control ante una falla. La limitación más clara es la escala: hoy funciona para un dispositivo a la vez, y ahí es donde apuntaría el siguiente esfuerzo de ingeniería.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referencias de este trabajo son: la guía de la práctica de Martínez Barrera, del Aula Virtual de la Universidad Santo Tomás; la documentación oficial de Python, específicamente los módulos socket, json, logging y multiprocessing; la documentación de la librería psutil; y la documentación de Microsoft sobre los códigos de error de Windows Sockets. Todas estas referencias están completas, en formato APA séptima edición, en el documento técnico.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822960"/>
            <a:ext cx="539496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457200" y="2560320"/>
            <a:ext cx="5394960" cy="201168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457200" y="4754880"/>
            <a:ext cx="5943600" cy="274320"/>
          </a:xfrm>
          <a:prstGeom prst="rect">
            <a:avLst/>
          </a:prstGeom>
          <a:noFill/>
          <a:ln/>
        </p:spPr>
        <p:txBody>
          <a:bodyPr wrap="square" lIns="0" tIns="0" rIns="0" bIns="0" rtlCol="0" anchor="ctr"/>
          <a:lstStyle/>
          <a:p>
            <a:pPr indent="0" marL="0">
              <a:buNone/>
            </a:pPr>
            <a:r>
              <a:rPr lang="en-US" sz="1000" dirty="0">
                <a:solidFill>
                  <a:schemeClr val="tx2"/>
                </a:solidFill>
              </a:rPr>
              <a:t>Práctica HSF · Integración de Sistemas de Información 2026-2</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_TEX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ph idx="101" type="body" hasCustomPrompt="1"/>
          </p:nvPr>
        </p:nvSpPr>
        <p:spPr>
          <a:xfrm>
            <a:off x="457200" y="1143000"/>
            <a:ext cx="8229600" cy="2697480"/>
          </a:xfrm>
          <a:prstGeom prst="rect">
            <a:avLst/>
          </a:prstGeom>
          <a:noFill/>
          <a:ln/>
        </p:spPr>
        <p:txBody>
          <a:bodyPr wrap="square" rtlCol="0"/>
          <a:lstStyle>
            <a:lvl1pPr indent="0" marL="0">
              <a:buNone/>
              <a:defRPr lang="en-US" sz="1400" dirty="0">
                <a:solidFill>
                  <a:schemeClr val="tx1"/>
                </a:solidFill>
              </a:defRPr>
            </a:lvl1pPr>
          </a:lstStyle>
          <a:p>
            <a:pPr indent="0" marL="0">
              <a:buNone/>
            </a:pPr>
            <a:endParaRPr lang="en-US" sz="1400" dirty="0"/>
          </a:p>
        </p:txBody>
      </p:sp>
      <p:sp>
        <p:nvSpPr>
          <p:cNvPr id="4" name="Text 0"/>
          <p:cNvSpPr/>
          <p:nvPr/>
        </p:nvSpPr>
        <p:spPr>
          <a:xfrm>
            <a:off x="457200" y="4754880"/>
            <a:ext cx="5943600" cy="274320"/>
          </a:xfrm>
          <a:prstGeom prst="rect">
            <a:avLst/>
          </a:prstGeom>
          <a:noFill/>
          <a:ln/>
        </p:spPr>
        <p:txBody>
          <a:bodyPr wrap="square" lIns="0" tIns="0" rIns="0" bIns="0" rtlCol="0" anchor="ctr"/>
          <a:lstStyle/>
          <a:p>
            <a:pPr indent="0" marL="0">
              <a:buNone/>
            </a:pPr>
            <a:r>
              <a:rPr lang="en-US" sz="1000" dirty="0">
                <a:solidFill>
                  <a:schemeClr val="tx2"/>
                </a:solidFill>
              </a:rPr>
              <a:t>Práctica HSF · Integración de Sistemas de Información 2026-2</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457200" y="4754880"/>
            <a:ext cx="5943600" cy="274320"/>
          </a:xfrm>
          <a:prstGeom prst="rect">
            <a:avLst/>
          </a:prstGeom>
          <a:noFill/>
          <a:ln/>
        </p:spPr>
        <p:txBody>
          <a:bodyPr wrap="square" lIns="0" tIns="0" rIns="0" bIns="0" rtlCol="0" anchor="ctr"/>
          <a:lstStyle/>
          <a:p>
            <a:pPr indent="0" marL="0">
              <a:buNone/>
            </a:pPr>
            <a:r>
              <a:rPr lang="en-US" sz="1000" dirty="0">
                <a:solidFill>
                  <a:schemeClr val="bg2"/>
                </a:solidFill>
              </a:rPr>
              <a:t>Práctica HSF · Integración de Sistemas de Información 2026-2</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822960"/>
            <a:ext cx="5394960" cy="1554480"/>
          </a:xfrm>
          <a:prstGeom prst="rect">
            <a:avLst/>
          </a:prstGeom>
          <a:noFill/>
          <a:ln/>
        </p:spPr>
        <p:txBody>
          <a:bodyPr wrap="square" lIns="0" tIns="0" rIns="0" bIns="0" rtlCol="0" anchor="b"/>
          <a:lstStyle/>
          <a:p>
            <a:pPr algn="l" indent="0" marL="0">
              <a:buNone/>
            </a:pPr>
            <a:r>
              <a:rPr lang="en-US" sz="4000" b="1" dirty="0">
                <a:solidFill>
                  <a:schemeClr val="bg1"/>
                </a:solidFill>
              </a:rPr>
              <a:t>Práctica de integración HSF</a:t>
            </a:r>
            <a:endParaRPr lang="en-US" sz="4000" dirty="0"/>
          </a:p>
        </p:txBody>
      </p:sp>
      <p:sp>
        <p:nvSpPr>
          <p:cNvPr id="4" name="Text 0"/>
          <p:cNvSpPr/>
          <p:nvPr>
            <p:ph idx="101" type="body" hasCustomPrompt="1"/>
          </p:nvPr>
        </p:nvSpPr>
        <p:spPr>
          <a:xfrm>
            <a:off x="457200" y="2560320"/>
            <a:ext cx="5394960" cy="2011680"/>
          </a:xfrm>
          <a:prstGeom prst="rect">
            <a:avLst/>
          </a:prstGeom>
          <a:noFill/>
          <a:ln/>
        </p:spPr>
        <p:txBody>
          <a:bodyPr wrap="square" lIns="0" tIns="0" rIns="0" bIns="0" rtlCol="0" anchor="t"/>
          <a:lstStyle/>
          <a:p>
            <a:pPr algn="l" indent="0" marL="0">
              <a:spcAft>
                <a:spcPts val="600"/>
              </a:spcAft>
              <a:buNone/>
            </a:pPr>
            <a:r>
              <a:rPr lang="en-US" sz="2000" b="1" dirty="0">
                <a:solidFill>
                  <a:schemeClr val="accent1"/>
                </a:solidFill>
              </a:rPr>
              <a:t>Hardware · Software · Firmware</a:t>
            </a:r>
            <a:endParaRPr lang="en-US" sz="1400" dirty="0"/>
          </a:p>
          <a:p>
            <a:pPr algn="l" indent="0" marL="0">
              <a:spcAft>
                <a:spcPts val="600"/>
              </a:spcAft>
              <a:buNone/>
            </a:pPr>
            <a:r>
              <a:rPr lang="en-US" sz="1400" b="1" dirty="0">
                <a:solidFill>
                  <a:schemeClr val="bg2"/>
                </a:solidFill>
              </a:rPr>
              <a:t>Segundo corte — Integración de Sistemas de Información 2026-2</a:t>
            </a:r>
            <a:endParaRPr lang="en-US" sz="1400" dirty="0"/>
          </a:p>
          <a:p>
            <a:pPr algn="l" indent="0" marL="0">
              <a:spcAft>
                <a:spcPts val="600"/>
              </a:spcAft>
              <a:buNone/>
            </a:pPr>
            <a:r>
              <a:rPr lang="en-US" sz="1400" dirty="0">
                <a:solidFill>
                  <a:schemeClr val="bg2"/>
                </a:solidFill>
              </a:rPr>
              <a:t>[NombreEstudiante] · Código [Codigo]</a:t>
            </a:r>
            <a:endParaRPr lang="en-US" sz="1400" dirty="0"/>
          </a:p>
          <a:p>
            <a:pPr algn="l" indent="0" marL="0">
              <a:spcAft>
                <a:spcPts val="600"/>
              </a:spcAft>
              <a:buNone/>
            </a:pPr>
            <a:r>
              <a:rPr lang="en-US" sz="1400" dirty="0">
                <a:solidFill>
                  <a:schemeClr val="bg2"/>
                </a:solidFill>
              </a:rPr>
              <a:t>Ingeniería en Informática · Universidad Santo Tomás</a:t>
            </a:r>
            <a:endParaRPr lang="en-US" sz="1400" dirty="0"/>
          </a:p>
          <a:p>
            <a:pPr algn="l" indent="0" marL="0">
              <a:spcAft>
                <a:spcPts val="600"/>
              </a:spcAft>
              <a:buNone/>
            </a:pPr>
            <a:r>
              <a:rPr lang="en-US" sz="1400" dirty="0">
                <a:solidFill>
                  <a:schemeClr val="bg2"/>
                </a:solidFill>
              </a:rPr>
              <a:t>Entrega dos · [dd de mes de 2026]</a:t>
            </a:r>
            <a:endParaRPr lang="en-US" sz="1400" dirty="0"/>
          </a:p>
        </p:txBody>
      </p:sp>
      <p:sp>
        <p:nvSpPr>
          <p:cNvPr id="5" name="eje-1"/>
          <p:cNvSpPr/>
          <p:nvPr/>
        </p:nvSpPr>
        <p:spPr>
          <a:xfrm>
            <a:off x="6675120" y="1051560"/>
            <a:ext cx="0" cy="3108960"/>
          </a:xfrm>
          <a:prstGeom prst="line">
            <a:avLst/>
          </a:prstGeom>
          <a:noFill/>
          <a:ln w="19050">
            <a:solidFill>
              <a:schemeClr val="bg2"/>
            </a:solidFill>
            <a:prstDash val="solid"/>
          </a:ln>
        </p:spPr>
      </p:sp>
      <p:sp>
        <p:nvSpPr>
          <p:cNvPr id="6" name="circulo-2"/>
          <p:cNvSpPr/>
          <p:nvPr/>
        </p:nvSpPr>
        <p:spPr>
          <a:xfrm>
            <a:off x="6423660" y="777240"/>
            <a:ext cx="502920" cy="502920"/>
          </a:xfrm>
          <a:prstGeom prst="ellipse">
            <a:avLst/>
          </a:prstGeom>
          <a:solidFill>
            <a:schemeClr val="accent5"/>
          </a:solidFill>
          <a:ln/>
        </p:spPr>
      </p:sp>
      <p:pic>
        <p:nvPicPr>
          <p:cNvPr id="7" name="icono-3" descr="preencoded.png">    </p:cNvPr>
          <p:cNvPicPr>
            <a:picLocks noChangeAspect="1"/>
          </p:cNvPicPr>
          <p:nvPr/>
        </p:nvPicPr>
        <p:blipFill>
          <a:blip r:embed="rId1"/>
          <a:stretch>
            <a:fillRect/>
          </a:stretch>
        </p:blipFill>
        <p:spPr>
          <a:xfrm>
            <a:off x="6534302" y="887882"/>
            <a:ext cx="281635" cy="281635"/>
          </a:xfrm>
          <a:prstGeom prst="rect">
            <a:avLst/>
          </a:prstGeom>
        </p:spPr>
      </p:pic>
      <p:sp>
        <p:nvSpPr>
          <p:cNvPr id="8" name="texto-4"/>
          <p:cNvSpPr txBox="1"/>
          <p:nvPr/>
        </p:nvSpPr>
        <p:spPr>
          <a:xfrm>
            <a:off x="7086600" y="777240"/>
            <a:ext cx="1691640" cy="502920"/>
          </a:xfrm>
          <a:prstGeom prst="rect">
            <a:avLst/>
          </a:prstGeom>
          <a:noFill/>
          <a:ln/>
        </p:spPr>
        <p:txBody>
          <a:bodyPr wrap="square" lIns="0" tIns="0" rIns="0" bIns="0" rtlCol="0" anchor="ctr"/>
          <a:lstStyle/>
          <a:p>
            <a:pPr indent="0" marL="0">
              <a:buNone/>
            </a:pPr>
            <a:r>
              <a:rPr lang="en-US" sz="1400" b="1" dirty="0">
                <a:solidFill>
                  <a:schemeClr val="bg1"/>
                </a:solidFill>
              </a:rPr>
              <a:t>Hardware</a:t>
            </a:r>
            <a:endParaRPr lang="en-US" sz="1400" dirty="0"/>
          </a:p>
        </p:txBody>
      </p:sp>
      <p:sp>
        <p:nvSpPr>
          <p:cNvPr id="9" name="circulo-5"/>
          <p:cNvSpPr/>
          <p:nvPr/>
        </p:nvSpPr>
        <p:spPr>
          <a:xfrm>
            <a:off x="6423660" y="1554480"/>
            <a:ext cx="502920" cy="502920"/>
          </a:xfrm>
          <a:prstGeom prst="ellipse">
            <a:avLst/>
          </a:prstGeom>
          <a:solidFill>
            <a:schemeClr val="accent1"/>
          </a:solidFill>
          <a:ln/>
        </p:spPr>
      </p:sp>
      <p:pic>
        <p:nvPicPr>
          <p:cNvPr id="10" name="icono-6" descr="preencoded.png">    </p:cNvPr>
          <p:cNvPicPr>
            <a:picLocks noChangeAspect="1"/>
          </p:cNvPicPr>
          <p:nvPr/>
        </p:nvPicPr>
        <p:blipFill>
          <a:blip r:embed="rId2"/>
          <a:stretch>
            <a:fillRect/>
          </a:stretch>
        </p:blipFill>
        <p:spPr>
          <a:xfrm>
            <a:off x="6534302" y="1665122"/>
            <a:ext cx="281635" cy="281635"/>
          </a:xfrm>
          <a:prstGeom prst="rect">
            <a:avLst/>
          </a:prstGeom>
        </p:spPr>
      </p:pic>
      <p:sp>
        <p:nvSpPr>
          <p:cNvPr id="11" name="texto-7"/>
          <p:cNvSpPr txBox="1"/>
          <p:nvPr/>
        </p:nvSpPr>
        <p:spPr>
          <a:xfrm>
            <a:off x="7086600" y="1554480"/>
            <a:ext cx="1691640" cy="502920"/>
          </a:xfrm>
          <a:prstGeom prst="rect">
            <a:avLst/>
          </a:prstGeom>
          <a:noFill/>
          <a:ln/>
        </p:spPr>
        <p:txBody>
          <a:bodyPr wrap="square" lIns="0" tIns="0" rIns="0" bIns="0" rtlCol="0" anchor="ctr"/>
          <a:lstStyle/>
          <a:p>
            <a:pPr indent="0" marL="0">
              <a:buNone/>
            </a:pPr>
            <a:r>
              <a:rPr lang="en-US" sz="1400" b="1" dirty="0">
                <a:solidFill>
                  <a:schemeClr val="bg1"/>
                </a:solidFill>
              </a:rPr>
              <a:t>Firmware</a:t>
            </a:r>
            <a:endParaRPr lang="en-US" sz="1400" dirty="0"/>
          </a:p>
        </p:txBody>
      </p:sp>
      <p:sp>
        <p:nvSpPr>
          <p:cNvPr id="12" name="circulo-8"/>
          <p:cNvSpPr/>
          <p:nvPr/>
        </p:nvSpPr>
        <p:spPr>
          <a:xfrm>
            <a:off x="6423660" y="2331720"/>
            <a:ext cx="502920" cy="502920"/>
          </a:xfrm>
          <a:prstGeom prst="ellipse">
            <a:avLst/>
          </a:prstGeom>
          <a:solidFill>
            <a:schemeClr val="accent3"/>
          </a:solidFill>
          <a:ln/>
        </p:spPr>
      </p:sp>
      <p:pic>
        <p:nvPicPr>
          <p:cNvPr id="13" name="icono-9" descr="preencoded.png">    </p:cNvPr>
          <p:cNvPicPr>
            <a:picLocks noChangeAspect="1"/>
          </p:cNvPicPr>
          <p:nvPr/>
        </p:nvPicPr>
        <p:blipFill>
          <a:blip r:embed="rId3"/>
          <a:stretch>
            <a:fillRect/>
          </a:stretch>
        </p:blipFill>
        <p:spPr>
          <a:xfrm>
            <a:off x="6534302" y="2442362"/>
            <a:ext cx="281635" cy="281635"/>
          </a:xfrm>
          <a:prstGeom prst="rect">
            <a:avLst/>
          </a:prstGeom>
        </p:spPr>
      </p:pic>
      <p:sp>
        <p:nvSpPr>
          <p:cNvPr id="14" name="texto-10"/>
          <p:cNvSpPr txBox="1"/>
          <p:nvPr/>
        </p:nvSpPr>
        <p:spPr>
          <a:xfrm>
            <a:off x="7086600" y="2331720"/>
            <a:ext cx="1691640" cy="502920"/>
          </a:xfrm>
          <a:prstGeom prst="rect">
            <a:avLst/>
          </a:prstGeom>
          <a:noFill/>
          <a:ln/>
        </p:spPr>
        <p:txBody>
          <a:bodyPr wrap="square" lIns="0" tIns="0" rIns="0" bIns="0" rtlCol="0" anchor="ctr"/>
          <a:lstStyle/>
          <a:p>
            <a:pPr indent="0" marL="0">
              <a:buNone/>
            </a:pPr>
            <a:r>
              <a:rPr lang="en-US" sz="1400" b="1" dirty="0">
                <a:solidFill>
                  <a:schemeClr val="bg1"/>
                </a:solidFill>
              </a:rPr>
              <a:t>Sistema operativo</a:t>
            </a:r>
            <a:endParaRPr lang="en-US" sz="1400" dirty="0"/>
          </a:p>
        </p:txBody>
      </p:sp>
      <p:sp>
        <p:nvSpPr>
          <p:cNvPr id="15" name="circulo-11"/>
          <p:cNvSpPr/>
          <p:nvPr/>
        </p:nvSpPr>
        <p:spPr>
          <a:xfrm>
            <a:off x="6423660" y="3108960"/>
            <a:ext cx="502920" cy="502920"/>
          </a:xfrm>
          <a:prstGeom prst="ellipse">
            <a:avLst/>
          </a:prstGeom>
          <a:solidFill>
            <a:schemeClr val="accent2"/>
          </a:solidFill>
          <a:ln/>
        </p:spPr>
      </p:sp>
      <p:pic>
        <p:nvPicPr>
          <p:cNvPr id="16" name="icono-12" descr="preencoded.png">    </p:cNvPr>
          <p:cNvPicPr>
            <a:picLocks noChangeAspect="1"/>
          </p:cNvPicPr>
          <p:nvPr/>
        </p:nvPicPr>
        <p:blipFill>
          <a:blip r:embed="rId4"/>
          <a:stretch>
            <a:fillRect/>
          </a:stretch>
        </p:blipFill>
        <p:spPr>
          <a:xfrm>
            <a:off x="6534302" y="3219602"/>
            <a:ext cx="281635" cy="281635"/>
          </a:xfrm>
          <a:prstGeom prst="rect">
            <a:avLst/>
          </a:prstGeom>
        </p:spPr>
      </p:pic>
      <p:sp>
        <p:nvSpPr>
          <p:cNvPr id="17" name="texto-13"/>
          <p:cNvSpPr txBox="1"/>
          <p:nvPr/>
        </p:nvSpPr>
        <p:spPr>
          <a:xfrm>
            <a:off x="7086600" y="3108960"/>
            <a:ext cx="1691640" cy="502920"/>
          </a:xfrm>
          <a:prstGeom prst="rect">
            <a:avLst/>
          </a:prstGeom>
          <a:noFill/>
          <a:ln/>
        </p:spPr>
        <p:txBody>
          <a:bodyPr wrap="square" lIns="0" tIns="0" rIns="0" bIns="0" rtlCol="0" anchor="ctr"/>
          <a:lstStyle/>
          <a:p>
            <a:pPr indent="0" marL="0">
              <a:buNone/>
            </a:pPr>
            <a:r>
              <a:rPr lang="en-US" sz="1400" b="1" dirty="0">
                <a:solidFill>
                  <a:schemeClr val="bg1"/>
                </a:solidFill>
              </a:rPr>
              <a:t>Software Python</a:t>
            </a:r>
            <a:endParaRPr lang="en-US" sz="1400" dirty="0"/>
          </a:p>
        </p:txBody>
      </p:sp>
      <p:sp>
        <p:nvSpPr>
          <p:cNvPr id="18" name="circulo-14"/>
          <p:cNvSpPr/>
          <p:nvPr/>
        </p:nvSpPr>
        <p:spPr>
          <a:xfrm>
            <a:off x="6423660" y="3886200"/>
            <a:ext cx="502920" cy="502920"/>
          </a:xfrm>
          <a:prstGeom prst="ellipse">
            <a:avLst/>
          </a:prstGeom>
          <a:solidFill>
            <a:schemeClr val="accent4"/>
          </a:solidFill>
          <a:ln/>
        </p:spPr>
      </p:sp>
      <p:pic>
        <p:nvPicPr>
          <p:cNvPr id="19" name="icono-15" descr="preencoded.png">    </p:cNvPr>
          <p:cNvPicPr>
            <a:picLocks noChangeAspect="1"/>
          </p:cNvPicPr>
          <p:nvPr/>
        </p:nvPicPr>
        <p:blipFill>
          <a:blip r:embed="rId5"/>
          <a:stretch>
            <a:fillRect/>
          </a:stretch>
        </p:blipFill>
        <p:spPr>
          <a:xfrm>
            <a:off x="6534302" y="3996842"/>
            <a:ext cx="281635" cy="281635"/>
          </a:xfrm>
          <a:prstGeom prst="rect">
            <a:avLst/>
          </a:prstGeom>
        </p:spPr>
      </p:pic>
      <p:sp>
        <p:nvSpPr>
          <p:cNvPr id="20" name="texto-16"/>
          <p:cNvSpPr txBox="1"/>
          <p:nvPr/>
        </p:nvSpPr>
        <p:spPr>
          <a:xfrm>
            <a:off x="7086600" y="3886200"/>
            <a:ext cx="1691640" cy="502920"/>
          </a:xfrm>
          <a:prstGeom prst="rect">
            <a:avLst/>
          </a:prstGeom>
          <a:noFill/>
          <a:ln/>
        </p:spPr>
        <p:txBody>
          <a:bodyPr wrap="square" lIns="0" tIns="0" rIns="0" bIns="0" rtlCol="0" anchor="ctr"/>
          <a:lstStyle/>
          <a:p>
            <a:pPr indent="0" marL="0">
              <a:buNone/>
            </a:pPr>
            <a:r>
              <a:rPr lang="en-US" sz="1400" b="1" dirty="0">
                <a:solidFill>
                  <a:schemeClr val="bg1"/>
                </a:solidFill>
              </a:rPr>
              <a:t>Persistencia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Arquitectura en capas</a:t>
            </a:r>
            <a:endParaRPr lang="en-US" sz="3600" dirty="0"/>
          </a:p>
        </p:txBody>
      </p:sp>
      <p:sp>
        <p:nvSpPr>
          <p:cNvPr id="4" name="tarjeta-17"/>
          <p:cNvSpPr/>
          <p:nvPr/>
        </p:nvSpPr>
        <p:spPr>
          <a:xfrm>
            <a:off x="457200" y="1143000"/>
            <a:ext cx="5029200" cy="566928"/>
          </a:xfrm>
          <a:prstGeom prst="roundRect">
            <a:avLst>
              <a:gd name="adj" fmla="val 16129"/>
            </a:avLst>
          </a:prstGeom>
          <a:solidFill>
            <a:schemeClr val="accent5"/>
          </a:solidFill>
          <a:ln/>
        </p:spPr>
      </p:sp>
      <p:sp>
        <p:nvSpPr>
          <p:cNvPr id="5" name="circulo-18"/>
          <p:cNvSpPr/>
          <p:nvPr/>
        </p:nvSpPr>
        <p:spPr>
          <a:xfrm>
            <a:off x="566928" y="1234440"/>
            <a:ext cx="384048" cy="384048"/>
          </a:xfrm>
          <a:prstGeom prst="ellipse">
            <a:avLst/>
          </a:prstGeom>
          <a:solidFill>
            <a:schemeClr val="bg1"/>
          </a:solidFill>
          <a:ln/>
        </p:spPr>
      </p:sp>
      <p:pic>
        <p:nvPicPr>
          <p:cNvPr id="6" name="icono-19" descr="preencoded.png">    </p:cNvPr>
          <p:cNvPicPr>
            <a:picLocks noChangeAspect="1"/>
          </p:cNvPicPr>
          <p:nvPr/>
        </p:nvPicPr>
        <p:blipFill>
          <a:blip r:embed="rId1"/>
          <a:stretch>
            <a:fillRect/>
          </a:stretch>
        </p:blipFill>
        <p:spPr>
          <a:xfrm>
            <a:off x="651419" y="1318931"/>
            <a:ext cx="215067" cy="215067"/>
          </a:xfrm>
          <a:prstGeom prst="rect">
            <a:avLst/>
          </a:prstGeom>
        </p:spPr>
      </p:pic>
      <p:sp>
        <p:nvSpPr>
          <p:cNvPr id="7" name="texto-20"/>
          <p:cNvSpPr txBox="1"/>
          <p:nvPr/>
        </p:nvSpPr>
        <p:spPr>
          <a:xfrm>
            <a:off x="1097280" y="1197864"/>
            <a:ext cx="4297680" cy="457200"/>
          </a:xfrm>
          <a:prstGeom prst="rect">
            <a:avLst/>
          </a:prstGeom>
          <a:noFill/>
          <a:ln/>
        </p:spPr>
        <p:txBody>
          <a:bodyPr wrap="square" lIns="0" tIns="0" rIns="0" bIns="0" rtlCol="0" anchor="ctr"/>
          <a:lstStyle/>
          <a:p>
            <a:pPr indent="0" marL="0">
              <a:buNone/>
            </a:pPr>
            <a:r>
              <a:rPr lang="en-US" sz="1400" b="1" dirty="0">
                <a:solidFill>
                  <a:schemeClr val="bg1"/>
                </a:solidFill>
              </a:rPr>
              <a:t>Hardware</a:t>
            </a:r>
            <a:endParaRPr lang="en-US" sz="1400" dirty="0"/>
          </a:p>
          <a:p>
            <a:pPr indent="0" marL="0">
              <a:buNone/>
            </a:pPr>
            <a:r>
              <a:rPr lang="en-US" sz="1100" dirty="0">
                <a:solidFill>
                  <a:schemeClr val="bg1"/>
                </a:solidFill>
              </a:rPr>
              <a:t>CPU, RAM y disco reales del equipo anfitrión</a:t>
            </a:r>
            <a:endParaRPr lang="en-US" sz="1400" dirty="0"/>
          </a:p>
        </p:txBody>
      </p:sp>
      <p:sp>
        <p:nvSpPr>
          <p:cNvPr id="8" name="tarjeta-21"/>
          <p:cNvSpPr/>
          <p:nvPr/>
        </p:nvSpPr>
        <p:spPr>
          <a:xfrm>
            <a:off x="457200" y="1801368"/>
            <a:ext cx="5029200" cy="566928"/>
          </a:xfrm>
          <a:prstGeom prst="roundRect">
            <a:avLst>
              <a:gd name="adj" fmla="val 16129"/>
            </a:avLst>
          </a:prstGeom>
          <a:solidFill>
            <a:schemeClr val="accent1"/>
          </a:solidFill>
          <a:ln/>
        </p:spPr>
      </p:sp>
      <p:sp>
        <p:nvSpPr>
          <p:cNvPr id="9" name="circulo-22"/>
          <p:cNvSpPr/>
          <p:nvPr/>
        </p:nvSpPr>
        <p:spPr>
          <a:xfrm>
            <a:off x="566928" y="1892808"/>
            <a:ext cx="384048" cy="384048"/>
          </a:xfrm>
          <a:prstGeom prst="ellipse">
            <a:avLst/>
          </a:prstGeom>
          <a:solidFill>
            <a:schemeClr val="bg1"/>
          </a:solidFill>
          <a:ln/>
        </p:spPr>
      </p:sp>
      <p:pic>
        <p:nvPicPr>
          <p:cNvPr id="10" name="icono-23" descr="preencoded.png">    </p:cNvPr>
          <p:cNvPicPr>
            <a:picLocks noChangeAspect="1"/>
          </p:cNvPicPr>
          <p:nvPr/>
        </p:nvPicPr>
        <p:blipFill>
          <a:blip r:embed="rId2"/>
          <a:stretch>
            <a:fillRect/>
          </a:stretch>
        </p:blipFill>
        <p:spPr>
          <a:xfrm>
            <a:off x="651419" y="1977299"/>
            <a:ext cx="215067" cy="215067"/>
          </a:xfrm>
          <a:prstGeom prst="rect">
            <a:avLst/>
          </a:prstGeom>
        </p:spPr>
      </p:pic>
      <p:sp>
        <p:nvSpPr>
          <p:cNvPr id="11" name="texto-24"/>
          <p:cNvSpPr txBox="1"/>
          <p:nvPr/>
        </p:nvSpPr>
        <p:spPr>
          <a:xfrm>
            <a:off x="1097280" y="1856232"/>
            <a:ext cx="4297680" cy="457200"/>
          </a:xfrm>
          <a:prstGeom prst="rect">
            <a:avLst/>
          </a:prstGeom>
          <a:noFill/>
          <a:ln/>
        </p:spPr>
        <p:txBody>
          <a:bodyPr wrap="square" lIns="0" tIns="0" rIns="0" bIns="0" rtlCol="0" anchor="ctr"/>
          <a:lstStyle/>
          <a:p>
            <a:pPr indent="0" marL="0">
              <a:buNone/>
            </a:pPr>
            <a:r>
              <a:rPr lang="en-US" sz="1400" b="1" dirty="0">
                <a:solidFill>
                  <a:schemeClr val="bg1"/>
                </a:solidFill>
              </a:rPr>
              <a:t>Firmware simulado</a:t>
            </a:r>
            <a:endParaRPr lang="en-US" sz="1400" dirty="0"/>
          </a:p>
          <a:p>
            <a:pPr indent="0" marL="0">
              <a:buNone/>
            </a:pPr>
            <a:r>
              <a:rPr lang="en-US" sz="1100" dirty="0">
                <a:solidFill>
                  <a:schemeClr val="bg1"/>
                </a:solidFill>
              </a:rPr>
              <a:t>firmware_simulador.py · telemetría por TCP</a:t>
            </a:r>
            <a:endParaRPr lang="en-US" sz="1400" dirty="0"/>
          </a:p>
        </p:txBody>
      </p:sp>
      <p:sp>
        <p:nvSpPr>
          <p:cNvPr id="12" name="tarjeta-25"/>
          <p:cNvSpPr/>
          <p:nvPr/>
        </p:nvSpPr>
        <p:spPr>
          <a:xfrm>
            <a:off x="457200" y="2459736"/>
            <a:ext cx="5029200" cy="566928"/>
          </a:xfrm>
          <a:prstGeom prst="roundRect">
            <a:avLst>
              <a:gd name="adj" fmla="val 16129"/>
            </a:avLst>
          </a:prstGeom>
          <a:solidFill>
            <a:schemeClr val="accent3"/>
          </a:solidFill>
          <a:ln/>
        </p:spPr>
      </p:sp>
      <p:sp>
        <p:nvSpPr>
          <p:cNvPr id="13" name="circulo-26"/>
          <p:cNvSpPr/>
          <p:nvPr/>
        </p:nvSpPr>
        <p:spPr>
          <a:xfrm>
            <a:off x="566928" y="2551176"/>
            <a:ext cx="384048" cy="384048"/>
          </a:xfrm>
          <a:prstGeom prst="ellipse">
            <a:avLst/>
          </a:prstGeom>
          <a:solidFill>
            <a:schemeClr val="bg1"/>
          </a:solidFill>
          <a:ln/>
        </p:spPr>
      </p:sp>
      <p:pic>
        <p:nvPicPr>
          <p:cNvPr id="14" name="icono-27" descr="preencoded.png">    </p:cNvPr>
          <p:cNvPicPr>
            <a:picLocks noChangeAspect="1"/>
          </p:cNvPicPr>
          <p:nvPr/>
        </p:nvPicPr>
        <p:blipFill>
          <a:blip r:embed="rId3"/>
          <a:stretch>
            <a:fillRect/>
          </a:stretch>
        </p:blipFill>
        <p:spPr>
          <a:xfrm>
            <a:off x="651419" y="2635667"/>
            <a:ext cx="215067" cy="215067"/>
          </a:xfrm>
          <a:prstGeom prst="rect">
            <a:avLst/>
          </a:prstGeom>
        </p:spPr>
      </p:pic>
      <p:sp>
        <p:nvSpPr>
          <p:cNvPr id="15" name="texto-28"/>
          <p:cNvSpPr txBox="1"/>
          <p:nvPr/>
        </p:nvSpPr>
        <p:spPr>
          <a:xfrm>
            <a:off x="1097280" y="2514600"/>
            <a:ext cx="4297680" cy="457200"/>
          </a:xfrm>
          <a:prstGeom prst="rect">
            <a:avLst/>
          </a:prstGeom>
          <a:noFill/>
          <a:ln/>
        </p:spPr>
        <p:txBody>
          <a:bodyPr wrap="square" lIns="0" tIns="0" rIns="0" bIns="0" rtlCol="0" anchor="ctr"/>
          <a:lstStyle/>
          <a:p>
            <a:pPr indent="0" marL="0">
              <a:buNone/>
            </a:pPr>
            <a:r>
              <a:rPr lang="en-US" sz="1400" b="1" dirty="0">
                <a:solidFill>
                  <a:schemeClr val="bg1"/>
                </a:solidFill>
              </a:rPr>
              <a:t>Sistema operativo</a:t>
            </a:r>
            <a:endParaRPr lang="en-US" sz="1400" dirty="0"/>
          </a:p>
          <a:p>
            <a:pPr indent="0" marL="0">
              <a:buNone/>
            </a:pPr>
            <a:r>
              <a:rPr lang="en-US" sz="1100" dirty="0">
                <a:solidFill>
                  <a:schemeClr val="bg1"/>
                </a:solidFill>
              </a:rPr>
              <a:t>sockets, procesos, memoria, disco y entorno</a:t>
            </a:r>
            <a:endParaRPr lang="en-US" sz="1400" dirty="0"/>
          </a:p>
        </p:txBody>
      </p:sp>
      <p:sp>
        <p:nvSpPr>
          <p:cNvPr id="16" name="tarjeta-29"/>
          <p:cNvSpPr/>
          <p:nvPr/>
        </p:nvSpPr>
        <p:spPr>
          <a:xfrm>
            <a:off x="457200" y="3118104"/>
            <a:ext cx="5029200" cy="566928"/>
          </a:xfrm>
          <a:prstGeom prst="roundRect">
            <a:avLst>
              <a:gd name="adj" fmla="val 16129"/>
            </a:avLst>
          </a:prstGeom>
          <a:solidFill>
            <a:schemeClr val="accent2"/>
          </a:solidFill>
          <a:ln/>
        </p:spPr>
      </p:sp>
      <p:sp>
        <p:nvSpPr>
          <p:cNvPr id="17" name="circulo-30"/>
          <p:cNvSpPr/>
          <p:nvPr/>
        </p:nvSpPr>
        <p:spPr>
          <a:xfrm>
            <a:off x="566928" y="3209544"/>
            <a:ext cx="384048" cy="384048"/>
          </a:xfrm>
          <a:prstGeom prst="ellipse">
            <a:avLst/>
          </a:prstGeom>
          <a:solidFill>
            <a:schemeClr val="bg1"/>
          </a:solidFill>
          <a:ln/>
        </p:spPr>
      </p:sp>
      <p:pic>
        <p:nvPicPr>
          <p:cNvPr id="18" name="icono-31" descr="preencoded.png">    </p:cNvPr>
          <p:cNvPicPr>
            <a:picLocks noChangeAspect="1"/>
          </p:cNvPicPr>
          <p:nvPr/>
        </p:nvPicPr>
        <p:blipFill>
          <a:blip r:embed="rId4"/>
          <a:stretch>
            <a:fillRect/>
          </a:stretch>
        </p:blipFill>
        <p:spPr>
          <a:xfrm>
            <a:off x="651419" y="3294035"/>
            <a:ext cx="215067" cy="215067"/>
          </a:xfrm>
          <a:prstGeom prst="rect">
            <a:avLst/>
          </a:prstGeom>
        </p:spPr>
      </p:pic>
      <p:sp>
        <p:nvSpPr>
          <p:cNvPr id="19" name="texto-32"/>
          <p:cNvSpPr txBox="1"/>
          <p:nvPr/>
        </p:nvSpPr>
        <p:spPr>
          <a:xfrm>
            <a:off x="1097280" y="3172968"/>
            <a:ext cx="4297680" cy="457200"/>
          </a:xfrm>
          <a:prstGeom prst="rect">
            <a:avLst/>
          </a:prstGeom>
          <a:noFill/>
          <a:ln/>
        </p:spPr>
        <p:txBody>
          <a:bodyPr wrap="square" lIns="0" tIns="0" rIns="0" bIns="0" rtlCol="0" anchor="ctr"/>
          <a:lstStyle/>
          <a:p>
            <a:pPr indent="0" marL="0">
              <a:buNone/>
            </a:pPr>
            <a:r>
              <a:rPr lang="en-US" sz="1400" b="1" dirty="0">
                <a:solidFill>
                  <a:schemeClr val="bg1"/>
                </a:solidFill>
              </a:rPr>
              <a:t>Software Python</a:t>
            </a:r>
            <a:endParaRPr lang="en-US" sz="1400" dirty="0"/>
          </a:p>
          <a:p>
            <a:pPr indent="0" marL="0">
              <a:buNone/>
            </a:pPr>
            <a:r>
              <a:rPr lang="en-US" sz="1100" dirty="0">
                <a:solidFill>
                  <a:schemeClr val="bg1"/>
                </a:solidFill>
              </a:rPr>
              <a:t>hsf_app/ · valida, clasifica y orquesta</a:t>
            </a:r>
            <a:endParaRPr lang="en-US" sz="1400" dirty="0"/>
          </a:p>
        </p:txBody>
      </p:sp>
      <p:sp>
        <p:nvSpPr>
          <p:cNvPr id="20" name="tarjeta-33"/>
          <p:cNvSpPr/>
          <p:nvPr/>
        </p:nvSpPr>
        <p:spPr>
          <a:xfrm>
            <a:off x="457200" y="3776472"/>
            <a:ext cx="5029200" cy="566928"/>
          </a:xfrm>
          <a:prstGeom prst="roundRect">
            <a:avLst>
              <a:gd name="adj" fmla="val 16129"/>
            </a:avLst>
          </a:prstGeom>
          <a:solidFill>
            <a:schemeClr val="accent4"/>
          </a:solidFill>
          <a:ln/>
        </p:spPr>
      </p:sp>
      <p:sp>
        <p:nvSpPr>
          <p:cNvPr id="21" name="circulo-34"/>
          <p:cNvSpPr/>
          <p:nvPr/>
        </p:nvSpPr>
        <p:spPr>
          <a:xfrm>
            <a:off x="566928" y="3867912"/>
            <a:ext cx="384048" cy="384048"/>
          </a:xfrm>
          <a:prstGeom prst="ellipse">
            <a:avLst/>
          </a:prstGeom>
          <a:solidFill>
            <a:schemeClr val="bg1"/>
          </a:solidFill>
          <a:ln/>
        </p:spPr>
      </p:sp>
      <p:pic>
        <p:nvPicPr>
          <p:cNvPr id="22" name="icono-35" descr="preencoded.png">    </p:cNvPr>
          <p:cNvPicPr>
            <a:picLocks noChangeAspect="1"/>
          </p:cNvPicPr>
          <p:nvPr/>
        </p:nvPicPr>
        <p:blipFill>
          <a:blip r:embed="rId5"/>
          <a:stretch>
            <a:fillRect/>
          </a:stretch>
        </p:blipFill>
        <p:spPr>
          <a:xfrm>
            <a:off x="651419" y="3952403"/>
            <a:ext cx="215067" cy="215067"/>
          </a:xfrm>
          <a:prstGeom prst="rect">
            <a:avLst/>
          </a:prstGeom>
        </p:spPr>
      </p:pic>
      <p:sp>
        <p:nvSpPr>
          <p:cNvPr id="23" name="texto-36"/>
          <p:cNvSpPr txBox="1"/>
          <p:nvPr/>
        </p:nvSpPr>
        <p:spPr>
          <a:xfrm>
            <a:off x="1097280" y="3831336"/>
            <a:ext cx="4297680" cy="457200"/>
          </a:xfrm>
          <a:prstGeom prst="rect">
            <a:avLst/>
          </a:prstGeom>
          <a:noFill/>
          <a:ln/>
        </p:spPr>
        <p:txBody>
          <a:bodyPr wrap="square" lIns="0" tIns="0" rIns="0" bIns="0" rtlCol="0" anchor="ctr"/>
          <a:lstStyle/>
          <a:p>
            <a:pPr indent="0" marL="0">
              <a:buNone/>
            </a:pPr>
            <a:r>
              <a:rPr lang="en-US" sz="1400" b="1" dirty="0">
                <a:solidFill>
                  <a:schemeClr val="bg1"/>
                </a:solidFill>
              </a:rPr>
              <a:t>Persistencia y reporte</a:t>
            </a:r>
            <a:endParaRPr lang="en-US" sz="1400" dirty="0"/>
          </a:p>
          <a:p>
            <a:pPr indent="0" marL="0">
              <a:buNone/>
            </a:pPr>
            <a:r>
              <a:rPr lang="en-US" sz="1100" dirty="0">
                <a:solidFill>
                  <a:schemeClr val="bg1"/>
                </a:solidFill>
              </a:rPr>
              <a:t>lecturas.csv · reporte_ejecucion.json · sistema.log</a:t>
            </a:r>
            <a:endParaRPr lang="en-US" sz="1400" dirty="0"/>
          </a:p>
        </p:txBody>
      </p:sp>
      <p:sp>
        <p:nvSpPr>
          <p:cNvPr id="24" name="texto-37"/>
          <p:cNvSpPr txBox="1"/>
          <p:nvPr/>
        </p:nvSpPr>
        <p:spPr>
          <a:xfrm>
            <a:off x="5852160" y="1143000"/>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Decisiones clave</a:t>
            </a:r>
            <a:endParaRPr lang="en-US" sz="1600" dirty="0"/>
          </a:p>
        </p:txBody>
      </p:sp>
      <p:sp>
        <p:nvSpPr>
          <p:cNvPr id="25" name="circulo-38"/>
          <p:cNvSpPr/>
          <p:nvPr/>
        </p:nvSpPr>
        <p:spPr>
          <a:xfrm>
            <a:off x="5852160" y="1645920"/>
            <a:ext cx="411480" cy="411480"/>
          </a:xfrm>
          <a:prstGeom prst="ellipse">
            <a:avLst/>
          </a:prstGeom>
          <a:solidFill>
            <a:schemeClr val="accent2"/>
          </a:solidFill>
          <a:ln/>
        </p:spPr>
      </p:sp>
      <p:pic>
        <p:nvPicPr>
          <p:cNvPr id="26" name="icono-39" descr="preencoded.png">    </p:cNvPr>
          <p:cNvPicPr>
            <a:picLocks noChangeAspect="1"/>
          </p:cNvPicPr>
          <p:nvPr/>
        </p:nvPicPr>
        <p:blipFill>
          <a:blip r:embed="rId6"/>
          <a:stretch>
            <a:fillRect/>
          </a:stretch>
        </p:blipFill>
        <p:spPr>
          <a:xfrm>
            <a:off x="5942686" y="1736446"/>
            <a:ext cx="230429" cy="230429"/>
          </a:xfrm>
          <a:prstGeom prst="rect">
            <a:avLst/>
          </a:prstGeom>
        </p:spPr>
      </p:pic>
      <p:sp>
        <p:nvSpPr>
          <p:cNvPr id="27" name="texto-40"/>
          <p:cNvSpPr txBox="1"/>
          <p:nvPr/>
        </p:nvSpPr>
        <p:spPr>
          <a:xfrm>
            <a:off x="6400800" y="1600200"/>
            <a:ext cx="2286000" cy="777240"/>
          </a:xfrm>
          <a:prstGeom prst="rect">
            <a:avLst/>
          </a:prstGeom>
          <a:noFill/>
          <a:ln/>
        </p:spPr>
        <p:txBody>
          <a:bodyPr wrap="square" lIns="0" tIns="0" rIns="0" bIns="0" rtlCol="0" anchor="t"/>
          <a:lstStyle/>
          <a:p>
            <a:pPr indent="0" marL="0">
              <a:buNone/>
            </a:pPr>
            <a:r>
              <a:rPr lang="en-US" sz="1400" dirty="0">
                <a:solidFill>
                  <a:schemeClr val="tx1"/>
                </a:solidFill>
              </a:rPr>
              <a:t>Firmware simulado en Python: no depende de una placa física</a:t>
            </a:r>
            <a:endParaRPr lang="en-US" sz="1400" dirty="0"/>
          </a:p>
        </p:txBody>
      </p:sp>
      <p:sp>
        <p:nvSpPr>
          <p:cNvPr id="28" name="circulo-41"/>
          <p:cNvSpPr/>
          <p:nvPr/>
        </p:nvSpPr>
        <p:spPr>
          <a:xfrm>
            <a:off x="5852160" y="2542032"/>
            <a:ext cx="411480" cy="411480"/>
          </a:xfrm>
          <a:prstGeom prst="ellipse">
            <a:avLst/>
          </a:prstGeom>
          <a:solidFill>
            <a:schemeClr val="accent3"/>
          </a:solidFill>
          <a:ln/>
        </p:spPr>
      </p:sp>
      <p:pic>
        <p:nvPicPr>
          <p:cNvPr id="29" name="icono-42" descr="preencoded.png">    </p:cNvPr>
          <p:cNvPicPr>
            <a:picLocks noChangeAspect="1"/>
          </p:cNvPicPr>
          <p:nvPr/>
        </p:nvPicPr>
        <p:blipFill>
          <a:blip r:embed="rId7"/>
          <a:stretch>
            <a:fillRect/>
          </a:stretch>
        </p:blipFill>
        <p:spPr>
          <a:xfrm>
            <a:off x="5942686" y="2632558"/>
            <a:ext cx="230429" cy="230429"/>
          </a:xfrm>
          <a:prstGeom prst="rect">
            <a:avLst/>
          </a:prstGeom>
        </p:spPr>
      </p:pic>
      <p:sp>
        <p:nvSpPr>
          <p:cNvPr id="30" name="texto-43"/>
          <p:cNvSpPr txBox="1"/>
          <p:nvPr/>
        </p:nvSpPr>
        <p:spPr>
          <a:xfrm>
            <a:off x="6400800" y="2496312"/>
            <a:ext cx="2286000" cy="777240"/>
          </a:xfrm>
          <a:prstGeom prst="rect">
            <a:avLst/>
          </a:prstGeom>
          <a:noFill/>
          <a:ln/>
        </p:spPr>
        <p:txBody>
          <a:bodyPr wrap="square" lIns="0" tIns="0" rIns="0" bIns="0" rtlCol="0" anchor="t"/>
          <a:lstStyle/>
          <a:p>
            <a:pPr indent="0" marL="0">
              <a:buNone/>
            </a:pPr>
            <a:r>
              <a:rPr lang="en-US" sz="1400" dirty="0">
                <a:solidFill>
                  <a:schemeClr val="tx1"/>
                </a:solidFill>
              </a:rPr>
              <a:t>Socket TCP: comunicación real a través del sistema operativo</a:t>
            </a:r>
            <a:endParaRPr lang="en-US" sz="1400" dirty="0"/>
          </a:p>
        </p:txBody>
      </p:sp>
      <p:sp>
        <p:nvSpPr>
          <p:cNvPr id="31" name="circulo-44"/>
          <p:cNvSpPr/>
          <p:nvPr/>
        </p:nvSpPr>
        <p:spPr>
          <a:xfrm>
            <a:off x="5852160" y="3438144"/>
            <a:ext cx="411480" cy="411480"/>
          </a:xfrm>
          <a:prstGeom prst="ellipse">
            <a:avLst/>
          </a:prstGeom>
          <a:solidFill>
            <a:schemeClr val="accent4"/>
          </a:solidFill>
          <a:ln/>
        </p:spPr>
      </p:sp>
      <p:pic>
        <p:nvPicPr>
          <p:cNvPr id="32" name="icono-45" descr="preencoded.png">    </p:cNvPr>
          <p:cNvPicPr>
            <a:picLocks noChangeAspect="1"/>
          </p:cNvPicPr>
          <p:nvPr/>
        </p:nvPicPr>
        <p:blipFill>
          <a:blip r:embed="rId8"/>
          <a:stretch>
            <a:fillRect/>
          </a:stretch>
        </p:blipFill>
        <p:spPr>
          <a:xfrm>
            <a:off x="5942686" y="3528670"/>
            <a:ext cx="230429" cy="230429"/>
          </a:xfrm>
          <a:prstGeom prst="rect">
            <a:avLst/>
          </a:prstGeom>
        </p:spPr>
      </p:pic>
      <p:sp>
        <p:nvSpPr>
          <p:cNvPr id="33" name="texto-46"/>
          <p:cNvSpPr txBox="1"/>
          <p:nvPr/>
        </p:nvSpPr>
        <p:spPr>
          <a:xfrm>
            <a:off x="6400800" y="3392424"/>
            <a:ext cx="2286000" cy="777240"/>
          </a:xfrm>
          <a:prstGeom prst="rect">
            <a:avLst/>
          </a:prstGeom>
          <a:noFill/>
          <a:ln/>
        </p:spPr>
        <p:txBody>
          <a:bodyPr wrap="square" lIns="0" tIns="0" rIns="0" bIns="0" rtlCol="0" anchor="t"/>
          <a:lstStyle/>
          <a:p>
            <a:pPr indent="0" marL="0">
              <a:buNone/>
            </a:pPr>
            <a:r>
              <a:rPr lang="en-US" sz="1400" dirty="0">
                <a:solidFill>
                  <a:schemeClr val="tx1"/>
                </a:solidFill>
              </a:rPr>
              <a:t>TDD: 28 pruebas escritas antes que el código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Flujo de una lectura</a:t>
            </a:r>
            <a:endParaRPr lang="en-US" sz="3600" dirty="0"/>
          </a:p>
        </p:txBody>
      </p:sp>
      <p:sp>
        <p:nvSpPr>
          <p:cNvPr id="4" name="tarjeta-47"/>
          <p:cNvSpPr/>
          <p:nvPr/>
        </p:nvSpPr>
        <p:spPr>
          <a:xfrm>
            <a:off x="457200" y="1188720"/>
            <a:ext cx="1188720" cy="1463040"/>
          </a:xfrm>
          <a:prstGeom prst="roundRect">
            <a:avLst>
              <a:gd name="adj" fmla="val 7692"/>
            </a:avLst>
          </a:prstGeom>
          <a:solidFill>
            <a:schemeClr val="accent1"/>
          </a:solidFill>
          <a:ln/>
        </p:spPr>
      </p:sp>
      <p:sp>
        <p:nvSpPr>
          <p:cNvPr id="5" name="circulo-48"/>
          <p:cNvSpPr/>
          <p:nvPr/>
        </p:nvSpPr>
        <p:spPr>
          <a:xfrm>
            <a:off x="822960" y="1325880"/>
            <a:ext cx="457200" cy="457200"/>
          </a:xfrm>
          <a:prstGeom prst="ellipse">
            <a:avLst/>
          </a:prstGeom>
          <a:solidFill>
            <a:schemeClr val="bg1"/>
          </a:solidFill>
          <a:ln/>
        </p:spPr>
      </p:sp>
      <p:pic>
        <p:nvPicPr>
          <p:cNvPr id="6" name="icono-49" descr="preencoded.png">    </p:cNvPr>
          <p:cNvPicPr>
            <a:picLocks noChangeAspect="1"/>
          </p:cNvPicPr>
          <p:nvPr/>
        </p:nvPicPr>
        <p:blipFill>
          <a:blip r:embed="rId1"/>
          <a:stretch>
            <a:fillRect/>
          </a:stretch>
        </p:blipFill>
        <p:spPr>
          <a:xfrm>
            <a:off x="923544" y="1426464"/>
            <a:ext cx="256032" cy="256032"/>
          </a:xfrm>
          <a:prstGeom prst="rect">
            <a:avLst/>
          </a:prstGeom>
        </p:spPr>
      </p:pic>
      <p:sp>
        <p:nvSpPr>
          <p:cNvPr id="7" name="texto-50"/>
          <p:cNvSpPr txBox="1"/>
          <p:nvPr/>
        </p:nvSpPr>
        <p:spPr>
          <a:xfrm>
            <a:off x="502920" y="1874520"/>
            <a:ext cx="1097280" cy="274320"/>
          </a:xfrm>
          <a:prstGeom prst="rect">
            <a:avLst/>
          </a:prstGeom>
          <a:noFill/>
          <a:ln/>
        </p:spPr>
        <p:txBody>
          <a:bodyPr wrap="square" lIns="0" tIns="0" rIns="0" bIns="0" rtlCol="0" anchor="ctr"/>
          <a:lstStyle/>
          <a:p>
            <a:pPr algn="ctr" indent="0" marL="0">
              <a:buNone/>
            </a:pPr>
            <a:r>
              <a:rPr lang="en-US" sz="1300" b="1" dirty="0">
                <a:solidFill>
                  <a:schemeClr val="bg1"/>
                </a:solidFill>
              </a:rPr>
              <a:t>Firmware</a:t>
            </a:r>
            <a:endParaRPr lang="en-US" sz="1300" dirty="0"/>
          </a:p>
        </p:txBody>
      </p:sp>
      <p:sp>
        <p:nvSpPr>
          <p:cNvPr id="8" name="texto-51"/>
          <p:cNvSpPr txBox="1"/>
          <p:nvPr/>
        </p:nvSpPr>
        <p:spPr>
          <a:xfrm>
            <a:off x="530352" y="2167128"/>
            <a:ext cx="1042416" cy="384048"/>
          </a:xfrm>
          <a:prstGeom prst="rect">
            <a:avLst/>
          </a:prstGeom>
          <a:noFill/>
          <a:ln/>
        </p:spPr>
        <p:txBody>
          <a:bodyPr wrap="square" lIns="0" tIns="0" rIns="0" bIns="0" rtlCol="0" anchor="t"/>
          <a:lstStyle/>
          <a:p>
            <a:pPr algn="ctr" indent="0" marL="0">
              <a:buNone/>
            </a:pPr>
            <a:r>
              <a:rPr lang="en-US" sz="1100" dirty="0">
                <a:solidFill>
                  <a:schemeClr val="bg1"/>
                </a:solidFill>
              </a:rPr>
              <a:t>JSON por TCP</a:t>
            </a:r>
            <a:endParaRPr lang="en-US" sz="1100" dirty="0"/>
          </a:p>
        </p:txBody>
      </p:sp>
      <p:sp>
        <p:nvSpPr>
          <p:cNvPr id="9" name="flecha-52"/>
          <p:cNvSpPr/>
          <p:nvPr/>
        </p:nvSpPr>
        <p:spPr>
          <a:xfrm>
            <a:off x="1673352" y="1920240"/>
            <a:ext cx="164592" cy="0"/>
          </a:xfrm>
          <a:prstGeom prst="line">
            <a:avLst/>
          </a:prstGeom>
          <a:noFill/>
          <a:ln w="25400">
            <a:solidFill>
              <a:schemeClr val="tx2"/>
            </a:solidFill>
            <a:prstDash val="solid"/>
            <a:tailEnd type="triangle"/>
          </a:ln>
        </p:spPr>
      </p:sp>
      <p:sp>
        <p:nvSpPr>
          <p:cNvPr id="10" name="tarjeta-53"/>
          <p:cNvSpPr/>
          <p:nvPr/>
        </p:nvSpPr>
        <p:spPr>
          <a:xfrm>
            <a:off x="1865376" y="1188720"/>
            <a:ext cx="1188720" cy="1463040"/>
          </a:xfrm>
          <a:prstGeom prst="roundRect">
            <a:avLst>
              <a:gd name="adj" fmla="val 7692"/>
            </a:avLst>
          </a:prstGeom>
          <a:solidFill>
            <a:schemeClr val="accent2"/>
          </a:solidFill>
          <a:ln/>
        </p:spPr>
      </p:sp>
      <p:sp>
        <p:nvSpPr>
          <p:cNvPr id="11" name="circulo-54"/>
          <p:cNvSpPr/>
          <p:nvPr/>
        </p:nvSpPr>
        <p:spPr>
          <a:xfrm>
            <a:off x="2231136" y="1325880"/>
            <a:ext cx="457200" cy="457200"/>
          </a:xfrm>
          <a:prstGeom prst="ellipse">
            <a:avLst/>
          </a:prstGeom>
          <a:solidFill>
            <a:schemeClr val="bg1"/>
          </a:solidFill>
          <a:ln/>
        </p:spPr>
      </p:sp>
      <p:pic>
        <p:nvPicPr>
          <p:cNvPr id="12" name="icono-55" descr="preencoded.png">    </p:cNvPr>
          <p:cNvPicPr>
            <a:picLocks noChangeAspect="1"/>
          </p:cNvPicPr>
          <p:nvPr/>
        </p:nvPicPr>
        <p:blipFill>
          <a:blip r:embed="rId2"/>
          <a:stretch>
            <a:fillRect/>
          </a:stretch>
        </p:blipFill>
        <p:spPr>
          <a:xfrm>
            <a:off x="2331720" y="1426464"/>
            <a:ext cx="256032" cy="256032"/>
          </a:xfrm>
          <a:prstGeom prst="rect">
            <a:avLst/>
          </a:prstGeom>
        </p:spPr>
      </p:pic>
      <p:sp>
        <p:nvSpPr>
          <p:cNvPr id="13" name="texto-56"/>
          <p:cNvSpPr txBox="1"/>
          <p:nvPr/>
        </p:nvSpPr>
        <p:spPr>
          <a:xfrm>
            <a:off x="1911096" y="1874520"/>
            <a:ext cx="1097280" cy="274320"/>
          </a:xfrm>
          <a:prstGeom prst="rect">
            <a:avLst/>
          </a:prstGeom>
          <a:noFill/>
          <a:ln/>
        </p:spPr>
        <p:txBody>
          <a:bodyPr wrap="square" lIns="0" tIns="0" rIns="0" bIns="0" rtlCol="0" anchor="ctr"/>
          <a:lstStyle/>
          <a:p>
            <a:pPr algn="ctr" indent="0" marL="0">
              <a:buNone/>
            </a:pPr>
            <a:r>
              <a:rPr lang="en-US" sz="1300" b="1" dirty="0">
                <a:solidFill>
                  <a:schemeClr val="bg1"/>
                </a:solidFill>
              </a:rPr>
              <a:t>acquisition</a:t>
            </a:r>
            <a:endParaRPr lang="en-US" sz="1300" dirty="0"/>
          </a:p>
        </p:txBody>
      </p:sp>
      <p:sp>
        <p:nvSpPr>
          <p:cNvPr id="14" name="texto-57"/>
          <p:cNvSpPr txBox="1"/>
          <p:nvPr/>
        </p:nvSpPr>
        <p:spPr>
          <a:xfrm>
            <a:off x="1938528" y="2167128"/>
            <a:ext cx="1042416" cy="384048"/>
          </a:xfrm>
          <a:prstGeom prst="rect">
            <a:avLst/>
          </a:prstGeom>
          <a:noFill/>
          <a:ln/>
        </p:spPr>
        <p:txBody>
          <a:bodyPr wrap="square" lIns="0" tIns="0" rIns="0" bIns="0" rtlCol="0" anchor="t"/>
          <a:lstStyle/>
          <a:p>
            <a:pPr algn="ctr" indent="0" marL="0">
              <a:buNone/>
            </a:pPr>
            <a:r>
              <a:rPr lang="en-US" sz="1100" dirty="0">
                <a:solidFill>
                  <a:schemeClr val="bg1"/>
                </a:solidFill>
              </a:rPr>
              <a:t>lee y parsea</a:t>
            </a:r>
            <a:endParaRPr lang="en-US" sz="1100" dirty="0"/>
          </a:p>
        </p:txBody>
      </p:sp>
      <p:sp>
        <p:nvSpPr>
          <p:cNvPr id="15" name="flecha-58"/>
          <p:cNvSpPr/>
          <p:nvPr/>
        </p:nvSpPr>
        <p:spPr>
          <a:xfrm>
            <a:off x="3081528" y="1920240"/>
            <a:ext cx="164592" cy="0"/>
          </a:xfrm>
          <a:prstGeom prst="line">
            <a:avLst/>
          </a:prstGeom>
          <a:noFill/>
          <a:ln w="25400">
            <a:solidFill>
              <a:schemeClr val="tx2"/>
            </a:solidFill>
            <a:prstDash val="solid"/>
            <a:tailEnd type="triangle"/>
          </a:ln>
        </p:spPr>
      </p:sp>
      <p:sp>
        <p:nvSpPr>
          <p:cNvPr id="16" name="tarjeta-59"/>
          <p:cNvSpPr/>
          <p:nvPr/>
        </p:nvSpPr>
        <p:spPr>
          <a:xfrm>
            <a:off x="3273552" y="1188720"/>
            <a:ext cx="1188720" cy="1463040"/>
          </a:xfrm>
          <a:prstGeom prst="roundRect">
            <a:avLst>
              <a:gd name="adj" fmla="val 7692"/>
            </a:avLst>
          </a:prstGeom>
          <a:solidFill>
            <a:schemeClr val="accent2"/>
          </a:solidFill>
          <a:ln/>
        </p:spPr>
      </p:sp>
      <p:sp>
        <p:nvSpPr>
          <p:cNvPr id="17" name="circulo-60"/>
          <p:cNvSpPr/>
          <p:nvPr/>
        </p:nvSpPr>
        <p:spPr>
          <a:xfrm>
            <a:off x="3639312" y="1325880"/>
            <a:ext cx="457200" cy="457200"/>
          </a:xfrm>
          <a:prstGeom prst="ellipse">
            <a:avLst/>
          </a:prstGeom>
          <a:solidFill>
            <a:schemeClr val="bg1"/>
          </a:solidFill>
          <a:ln/>
        </p:spPr>
      </p:sp>
      <p:pic>
        <p:nvPicPr>
          <p:cNvPr id="18" name="icono-61" descr="preencoded.png">    </p:cNvPr>
          <p:cNvPicPr>
            <a:picLocks noChangeAspect="1"/>
          </p:cNvPicPr>
          <p:nvPr/>
        </p:nvPicPr>
        <p:blipFill>
          <a:blip r:embed="rId3"/>
          <a:stretch>
            <a:fillRect/>
          </a:stretch>
        </p:blipFill>
        <p:spPr>
          <a:xfrm>
            <a:off x="3739896" y="1426464"/>
            <a:ext cx="256032" cy="256032"/>
          </a:xfrm>
          <a:prstGeom prst="rect">
            <a:avLst/>
          </a:prstGeom>
        </p:spPr>
      </p:pic>
      <p:sp>
        <p:nvSpPr>
          <p:cNvPr id="19" name="texto-62"/>
          <p:cNvSpPr txBox="1"/>
          <p:nvPr/>
        </p:nvSpPr>
        <p:spPr>
          <a:xfrm>
            <a:off x="3319272" y="1874520"/>
            <a:ext cx="1097280" cy="274320"/>
          </a:xfrm>
          <a:prstGeom prst="rect">
            <a:avLst/>
          </a:prstGeom>
          <a:noFill/>
          <a:ln/>
        </p:spPr>
        <p:txBody>
          <a:bodyPr wrap="square" lIns="0" tIns="0" rIns="0" bIns="0" rtlCol="0" anchor="ctr"/>
          <a:lstStyle/>
          <a:p>
            <a:pPr algn="ctr" indent="0" marL="0">
              <a:buNone/>
            </a:pPr>
            <a:r>
              <a:rPr lang="en-US" sz="1300" b="1" dirty="0">
                <a:solidFill>
                  <a:schemeClr val="bg1"/>
                </a:solidFill>
              </a:rPr>
              <a:t>validation</a:t>
            </a:r>
            <a:endParaRPr lang="en-US" sz="1300" dirty="0"/>
          </a:p>
        </p:txBody>
      </p:sp>
      <p:sp>
        <p:nvSpPr>
          <p:cNvPr id="20" name="texto-63"/>
          <p:cNvSpPr txBox="1"/>
          <p:nvPr/>
        </p:nvSpPr>
        <p:spPr>
          <a:xfrm>
            <a:off x="3346704" y="2167128"/>
            <a:ext cx="1042416" cy="384048"/>
          </a:xfrm>
          <a:prstGeom prst="rect">
            <a:avLst/>
          </a:prstGeom>
          <a:noFill/>
          <a:ln/>
        </p:spPr>
        <p:txBody>
          <a:bodyPr wrap="square" lIns="0" tIns="0" rIns="0" bIns="0" rtlCol="0" anchor="t"/>
          <a:lstStyle/>
          <a:p>
            <a:pPr algn="ctr" indent="0" marL="0">
              <a:buNone/>
            </a:pPr>
            <a:r>
              <a:rPr lang="en-US" sz="1100" dirty="0">
                <a:solidFill>
                  <a:schemeClr val="bg1"/>
                </a:solidFill>
              </a:rPr>
              <a:t>estructura, tipo, rango</a:t>
            </a:r>
            <a:endParaRPr lang="en-US" sz="1100" dirty="0"/>
          </a:p>
        </p:txBody>
      </p:sp>
      <p:sp>
        <p:nvSpPr>
          <p:cNvPr id="21" name="flecha-64"/>
          <p:cNvSpPr/>
          <p:nvPr/>
        </p:nvSpPr>
        <p:spPr>
          <a:xfrm>
            <a:off x="4489704" y="1920240"/>
            <a:ext cx="164592" cy="0"/>
          </a:xfrm>
          <a:prstGeom prst="line">
            <a:avLst/>
          </a:prstGeom>
          <a:noFill/>
          <a:ln w="25400">
            <a:solidFill>
              <a:schemeClr val="tx2"/>
            </a:solidFill>
            <a:prstDash val="solid"/>
            <a:tailEnd type="triangle"/>
          </a:ln>
        </p:spPr>
      </p:sp>
      <p:sp>
        <p:nvSpPr>
          <p:cNvPr id="22" name="tarjeta-65"/>
          <p:cNvSpPr/>
          <p:nvPr/>
        </p:nvSpPr>
        <p:spPr>
          <a:xfrm>
            <a:off x="4681728" y="1188720"/>
            <a:ext cx="1188720" cy="1463040"/>
          </a:xfrm>
          <a:prstGeom prst="roundRect">
            <a:avLst>
              <a:gd name="adj" fmla="val 7692"/>
            </a:avLst>
          </a:prstGeom>
          <a:solidFill>
            <a:schemeClr val="accent2"/>
          </a:solidFill>
          <a:ln/>
        </p:spPr>
      </p:sp>
      <p:sp>
        <p:nvSpPr>
          <p:cNvPr id="23" name="circulo-66"/>
          <p:cNvSpPr/>
          <p:nvPr/>
        </p:nvSpPr>
        <p:spPr>
          <a:xfrm>
            <a:off x="5047488" y="1325880"/>
            <a:ext cx="457200" cy="457200"/>
          </a:xfrm>
          <a:prstGeom prst="ellipse">
            <a:avLst/>
          </a:prstGeom>
          <a:solidFill>
            <a:schemeClr val="bg1"/>
          </a:solidFill>
          <a:ln/>
        </p:spPr>
      </p:sp>
      <p:pic>
        <p:nvPicPr>
          <p:cNvPr id="24" name="icono-67" descr="preencoded.png">    </p:cNvPr>
          <p:cNvPicPr>
            <a:picLocks noChangeAspect="1"/>
          </p:cNvPicPr>
          <p:nvPr/>
        </p:nvPicPr>
        <p:blipFill>
          <a:blip r:embed="rId4"/>
          <a:stretch>
            <a:fillRect/>
          </a:stretch>
        </p:blipFill>
        <p:spPr>
          <a:xfrm>
            <a:off x="5148072" y="1426464"/>
            <a:ext cx="256032" cy="256032"/>
          </a:xfrm>
          <a:prstGeom prst="rect">
            <a:avLst/>
          </a:prstGeom>
        </p:spPr>
      </p:pic>
      <p:sp>
        <p:nvSpPr>
          <p:cNvPr id="25" name="texto-68"/>
          <p:cNvSpPr txBox="1"/>
          <p:nvPr/>
        </p:nvSpPr>
        <p:spPr>
          <a:xfrm>
            <a:off x="4727448" y="1874520"/>
            <a:ext cx="1097280" cy="274320"/>
          </a:xfrm>
          <a:prstGeom prst="rect">
            <a:avLst/>
          </a:prstGeom>
          <a:noFill/>
          <a:ln/>
        </p:spPr>
        <p:txBody>
          <a:bodyPr wrap="square" lIns="0" tIns="0" rIns="0" bIns="0" rtlCol="0" anchor="ctr"/>
          <a:lstStyle/>
          <a:p>
            <a:pPr algn="ctr" indent="0" marL="0">
              <a:buNone/>
            </a:pPr>
            <a:r>
              <a:rPr lang="en-US" sz="1300" b="1" dirty="0">
                <a:solidFill>
                  <a:schemeClr val="bg1"/>
                </a:solidFill>
              </a:rPr>
              <a:t>processing</a:t>
            </a:r>
            <a:endParaRPr lang="en-US" sz="1300" dirty="0"/>
          </a:p>
        </p:txBody>
      </p:sp>
      <p:sp>
        <p:nvSpPr>
          <p:cNvPr id="26" name="texto-69"/>
          <p:cNvSpPr txBox="1"/>
          <p:nvPr/>
        </p:nvSpPr>
        <p:spPr>
          <a:xfrm>
            <a:off x="4754880" y="2167128"/>
            <a:ext cx="1042416" cy="384048"/>
          </a:xfrm>
          <a:prstGeom prst="rect">
            <a:avLst/>
          </a:prstGeom>
          <a:noFill/>
          <a:ln/>
        </p:spPr>
        <p:txBody>
          <a:bodyPr wrap="square" lIns="0" tIns="0" rIns="0" bIns="0" rtlCol="0" anchor="t"/>
          <a:lstStyle/>
          <a:p>
            <a:pPr algn="ctr" indent="0" marL="0">
              <a:buNone/>
            </a:pPr>
            <a:r>
              <a:rPr lang="en-US" sz="1100" dirty="0">
                <a:solidFill>
                  <a:schemeClr val="bg1"/>
                </a:solidFill>
              </a:rPr>
              <a:t>normal / anómalo</a:t>
            </a:r>
            <a:endParaRPr lang="en-US" sz="1100" dirty="0"/>
          </a:p>
        </p:txBody>
      </p:sp>
      <p:sp>
        <p:nvSpPr>
          <p:cNvPr id="27" name="flecha-70"/>
          <p:cNvSpPr/>
          <p:nvPr/>
        </p:nvSpPr>
        <p:spPr>
          <a:xfrm>
            <a:off x="5897880" y="1920240"/>
            <a:ext cx="164592" cy="0"/>
          </a:xfrm>
          <a:prstGeom prst="line">
            <a:avLst/>
          </a:prstGeom>
          <a:noFill/>
          <a:ln w="25400">
            <a:solidFill>
              <a:schemeClr val="tx2"/>
            </a:solidFill>
            <a:prstDash val="solid"/>
            <a:tailEnd type="triangle"/>
          </a:ln>
        </p:spPr>
      </p:sp>
      <p:sp>
        <p:nvSpPr>
          <p:cNvPr id="28" name="tarjeta-71"/>
          <p:cNvSpPr/>
          <p:nvPr/>
        </p:nvSpPr>
        <p:spPr>
          <a:xfrm>
            <a:off x="6089904" y="1188720"/>
            <a:ext cx="1188720" cy="1463040"/>
          </a:xfrm>
          <a:prstGeom prst="roundRect">
            <a:avLst>
              <a:gd name="adj" fmla="val 7692"/>
            </a:avLst>
          </a:prstGeom>
          <a:solidFill>
            <a:schemeClr val="accent4"/>
          </a:solidFill>
          <a:ln/>
        </p:spPr>
      </p:sp>
      <p:sp>
        <p:nvSpPr>
          <p:cNvPr id="29" name="circulo-72"/>
          <p:cNvSpPr/>
          <p:nvPr/>
        </p:nvSpPr>
        <p:spPr>
          <a:xfrm>
            <a:off x="6455664" y="1325880"/>
            <a:ext cx="457200" cy="457200"/>
          </a:xfrm>
          <a:prstGeom prst="ellipse">
            <a:avLst/>
          </a:prstGeom>
          <a:solidFill>
            <a:schemeClr val="bg1"/>
          </a:solidFill>
          <a:ln/>
        </p:spPr>
      </p:sp>
      <p:pic>
        <p:nvPicPr>
          <p:cNvPr id="30" name="icono-73" descr="preencoded.png">    </p:cNvPr>
          <p:cNvPicPr>
            <a:picLocks noChangeAspect="1"/>
          </p:cNvPicPr>
          <p:nvPr/>
        </p:nvPicPr>
        <p:blipFill>
          <a:blip r:embed="rId5"/>
          <a:stretch>
            <a:fillRect/>
          </a:stretch>
        </p:blipFill>
        <p:spPr>
          <a:xfrm>
            <a:off x="6556248" y="1426464"/>
            <a:ext cx="256032" cy="256032"/>
          </a:xfrm>
          <a:prstGeom prst="rect">
            <a:avLst/>
          </a:prstGeom>
        </p:spPr>
      </p:pic>
      <p:sp>
        <p:nvSpPr>
          <p:cNvPr id="31" name="texto-74"/>
          <p:cNvSpPr txBox="1"/>
          <p:nvPr/>
        </p:nvSpPr>
        <p:spPr>
          <a:xfrm>
            <a:off x="6135624" y="1874520"/>
            <a:ext cx="1097280" cy="274320"/>
          </a:xfrm>
          <a:prstGeom prst="rect">
            <a:avLst/>
          </a:prstGeom>
          <a:noFill/>
          <a:ln/>
        </p:spPr>
        <p:txBody>
          <a:bodyPr wrap="square" lIns="0" tIns="0" rIns="0" bIns="0" rtlCol="0" anchor="ctr"/>
          <a:lstStyle/>
          <a:p>
            <a:pPr algn="ctr" indent="0" marL="0">
              <a:buNone/>
            </a:pPr>
            <a:r>
              <a:rPr lang="en-US" sz="1300" b="1" dirty="0">
                <a:solidFill>
                  <a:schemeClr val="bg1"/>
                </a:solidFill>
              </a:rPr>
              <a:t>persistence</a:t>
            </a:r>
            <a:endParaRPr lang="en-US" sz="1300" dirty="0"/>
          </a:p>
        </p:txBody>
      </p:sp>
      <p:sp>
        <p:nvSpPr>
          <p:cNvPr id="32" name="texto-75"/>
          <p:cNvSpPr txBox="1"/>
          <p:nvPr/>
        </p:nvSpPr>
        <p:spPr>
          <a:xfrm>
            <a:off x="6163056" y="2167128"/>
            <a:ext cx="1042416" cy="384048"/>
          </a:xfrm>
          <a:prstGeom prst="rect">
            <a:avLst/>
          </a:prstGeom>
          <a:noFill/>
          <a:ln/>
        </p:spPr>
        <p:txBody>
          <a:bodyPr wrap="square" lIns="0" tIns="0" rIns="0" bIns="0" rtlCol="0" anchor="t"/>
          <a:lstStyle/>
          <a:p>
            <a:pPr algn="ctr" indent="0" marL="0">
              <a:buNone/>
            </a:pPr>
            <a:r>
              <a:rPr lang="en-US" sz="1100" dirty="0">
                <a:solidFill>
                  <a:schemeClr val="bg1"/>
                </a:solidFill>
              </a:rPr>
              <a:t>CSV + JSON</a:t>
            </a:r>
            <a:endParaRPr lang="en-US" sz="1100" dirty="0"/>
          </a:p>
        </p:txBody>
      </p:sp>
      <p:sp>
        <p:nvSpPr>
          <p:cNvPr id="33" name="flecha-76"/>
          <p:cNvSpPr/>
          <p:nvPr/>
        </p:nvSpPr>
        <p:spPr>
          <a:xfrm>
            <a:off x="7306056" y="1920240"/>
            <a:ext cx="164592" cy="0"/>
          </a:xfrm>
          <a:prstGeom prst="line">
            <a:avLst/>
          </a:prstGeom>
          <a:noFill/>
          <a:ln w="25400">
            <a:solidFill>
              <a:schemeClr val="tx2"/>
            </a:solidFill>
            <a:prstDash val="solid"/>
            <a:tailEnd type="triangle"/>
          </a:ln>
        </p:spPr>
      </p:sp>
      <p:sp>
        <p:nvSpPr>
          <p:cNvPr id="34" name="tarjeta-77"/>
          <p:cNvSpPr/>
          <p:nvPr/>
        </p:nvSpPr>
        <p:spPr>
          <a:xfrm>
            <a:off x="7498080" y="1188720"/>
            <a:ext cx="1188720" cy="1463040"/>
          </a:xfrm>
          <a:prstGeom prst="roundRect">
            <a:avLst>
              <a:gd name="adj" fmla="val 7692"/>
            </a:avLst>
          </a:prstGeom>
          <a:solidFill>
            <a:schemeClr val="accent4"/>
          </a:solidFill>
          <a:ln/>
        </p:spPr>
      </p:sp>
      <p:sp>
        <p:nvSpPr>
          <p:cNvPr id="35" name="circulo-78"/>
          <p:cNvSpPr/>
          <p:nvPr/>
        </p:nvSpPr>
        <p:spPr>
          <a:xfrm>
            <a:off x="7863840" y="1325880"/>
            <a:ext cx="457200" cy="457200"/>
          </a:xfrm>
          <a:prstGeom prst="ellipse">
            <a:avLst/>
          </a:prstGeom>
          <a:solidFill>
            <a:schemeClr val="bg1"/>
          </a:solidFill>
          <a:ln/>
        </p:spPr>
      </p:sp>
      <p:pic>
        <p:nvPicPr>
          <p:cNvPr id="36" name="icono-79" descr="preencoded.png">    </p:cNvPr>
          <p:cNvPicPr>
            <a:picLocks noChangeAspect="1"/>
          </p:cNvPicPr>
          <p:nvPr/>
        </p:nvPicPr>
        <p:blipFill>
          <a:blip r:embed="rId6"/>
          <a:stretch>
            <a:fillRect/>
          </a:stretch>
        </p:blipFill>
        <p:spPr>
          <a:xfrm>
            <a:off x="7964424" y="1426464"/>
            <a:ext cx="256032" cy="256032"/>
          </a:xfrm>
          <a:prstGeom prst="rect">
            <a:avLst/>
          </a:prstGeom>
        </p:spPr>
      </p:pic>
      <p:sp>
        <p:nvSpPr>
          <p:cNvPr id="37" name="texto-80"/>
          <p:cNvSpPr txBox="1"/>
          <p:nvPr/>
        </p:nvSpPr>
        <p:spPr>
          <a:xfrm>
            <a:off x="7543800" y="1874520"/>
            <a:ext cx="1097280" cy="274320"/>
          </a:xfrm>
          <a:prstGeom prst="rect">
            <a:avLst/>
          </a:prstGeom>
          <a:noFill/>
          <a:ln/>
        </p:spPr>
        <p:txBody>
          <a:bodyPr wrap="square" lIns="0" tIns="0" rIns="0" bIns="0" rtlCol="0" anchor="ctr"/>
          <a:lstStyle/>
          <a:p>
            <a:pPr algn="ctr" indent="0" marL="0">
              <a:buNone/>
            </a:pPr>
            <a:r>
              <a:rPr lang="en-US" sz="1300" b="1" dirty="0">
                <a:solidFill>
                  <a:schemeClr val="bg1"/>
                </a:solidFill>
              </a:rPr>
              <a:t>logging</a:t>
            </a:r>
            <a:endParaRPr lang="en-US" sz="1300" dirty="0"/>
          </a:p>
        </p:txBody>
      </p:sp>
      <p:sp>
        <p:nvSpPr>
          <p:cNvPr id="38" name="texto-81"/>
          <p:cNvSpPr txBox="1"/>
          <p:nvPr/>
        </p:nvSpPr>
        <p:spPr>
          <a:xfrm>
            <a:off x="7571232" y="2167128"/>
            <a:ext cx="1042416" cy="384048"/>
          </a:xfrm>
          <a:prstGeom prst="rect">
            <a:avLst/>
          </a:prstGeom>
          <a:noFill/>
          <a:ln/>
        </p:spPr>
        <p:txBody>
          <a:bodyPr wrap="square" lIns="0" tIns="0" rIns="0" bIns="0" rtlCol="0" anchor="t"/>
          <a:lstStyle/>
          <a:p>
            <a:pPr algn="ctr" indent="0" marL="0">
              <a:buNone/>
            </a:pPr>
            <a:r>
              <a:rPr lang="en-US" sz="1100" dirty="0">
                <a:solidFill>
                  <a:schemeClr val="bg1"/>
                </a:solidFill>
              </a:rPr>
              <a:t>logs/sistema.log</a:t>
            </a:r>
            <a:endParaRPr lang="en-US" sz="1100" dirty="0"/>
          </a:p>
        </p:txBody>
      </p:sp>
      <p:sp>
        <p:nvSpPr>
          <p:cNvPr id="39" name="tarjeta-82"/>
          <p:cNvSpPr/>
          <p:nvPr/>
        </p:nvSpPr>
        <p:spPr>
          <a:xfrm>
            <a:off x="457200" y="2971800"/>
            <a:ext cx="8229600" cy="1188720"/>
          </a:xfrm>
          <a:prstGeom prst="roundRect">
            <a:avLst>
              <a:gd name="adj" fmla="val 7692"/>
            </a:avLst>
          </a:prstGeom>
          <a:solidFill>
            <a:schemeClr val="bg2"/>
          </a:solidFill>
          <a:ln/>
        </p:spPr>
      </p:sp>
      <p:sp>
        <p:nvSpPr>
          <p:cNvPr id="40" name="circulo-83"/>
          <p:cNvSpPr/>
          <p:nvPr/>
        </p:nvSpPr>
        <p:spPr>
          <a:xfrm>
            <a:off x="685800" y="3246120"/>
            <a:ext cx="640080" cy="640080"/>
          </a:xfrm>
          <a:prstGeom prst="ellipse">
            <a:avLst/>
          </a:prstGeom>
          <a:solidFill>
            <a:schemeClr val="accent6"/>
          </a:solidFill>
          <a:ln/>
        </p:spPr>
      </p:sp>
      <p:pic>
        <p:nvPicPr>
          <p:cNvPr id="41" name="icono-84" descr="preencoded.png">    </p:cNvPr>
          <p:cNvPicPr>
            <a:picLocks noChangeAspect="1"/>
          </p:cNvPicPr>
          <p:nvPr/>
        </p:nvPicPr>
        <p:blipFill>
          <a:blip r:embed="rId7"/>
          <a:stretch>
            <a:fillRect/>
          </a:stretch>
        </p:blipFill>
        <p:spPr>
          <a:xfrm>
            <a:off x="826618" y="3386938"/>
            <a:ext cx="358445" cy="358445"/>
          </a:xfrm>
          <a:prstGeom prst="rect">
            <a:avLst/>
          </a:prstGeom>
        </p:spPr>
      </p:pic>
      <p:sp>
        <p:nvSpPr>
          <p:cNvPr id="42" name="texto-85"/>
          <p:cNvSpPr txBox="1"/>
          <p:nvPr/>
        </p:nvSpPr>
        <p:spPr>
          <a:xfrm>
            <a:off x="1554480" y="3090672"/>
            <a:ext cx="6949440" cy="96012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Si algo falla, el ciclo no se detiene (RF09)</a:t>
            </a:r>
            <a:endParaRPr lang="en-US" sz="1600" dirty="0"/>
          </a:p>
          <a:p>
            <a:pPr indent="0" marL="0">
              <a:spcAft>
                <a:spcPts val="400"/>
              </a:spcAft>
              <a:buNone/>
            </a:pPr>
            <a:r>
              <a:rPr lang="en-US" sz="1400" dirty="0">
                <a:solidFill>
                  <a:schemeClr val="tx1"/>
                </a:solidFill>
              </a:rPr>
              <a:t>Los errores de adquisición, validación, escritura y conexión se registran y se cuentan; ante una caída del enlace, reintenta con espera creciente de 1, 2, 4 y 8 segundos.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Repositorio en GitHub</a:t>
            </a:r>
            <a:endParaRPr lang="en-US" sz="3600" dirty="0"/>
          </a:p>
        </p:txBody>
      </p:sp>
      <p:sp>
        <p:nvSpPr>
          <p:cNvPr id="4" name="tarjeta-86"/>
          <p:cNvSpPr/>
          <p:nvPr/>
        </p:nvSpPr>
        <p:spPr>
          <a:xfrm>
            <a:off x="457200" y="1143000"/>
            <a:ext cx="4846320" cy="3291840"/>
          </a:xfrm>
          <a:prstGeom prst="roundRect">
            <a:avLst>
              <a:gd name="adj" fmla="val 2778"/>
            </a:avLst>
          </a:prstGeom>
          <a:solidFill>
            <a:schemeClr val="tx2"/>
          </a:solidFill>
          <a:ln/>
        </p:spPr>
      </p:sp>
      <p:sp>
        <p:nvSpPr>
          <p:cNvPr id="5" name="texto-87"/>
          <p:cNvSpPr txBox="1"/>
          <p:nvPr/>
        </p:nvSpPr>
        <p:spPr>
          <a:xfrm>
            <a:off x="685800" y="1371600"/>
            <a:ext cx="4480560" cy="2926080"/>
          </a:xfrm>
          <a:prstGeom prst="rect">
            <a:avLst/>
          </a:prstGeom>
          <a:noFill/>
          <a:ln/>
        </p:spPr>
        <p:txBody>
          <a:bodyPr wrap="square" lIns="0" tIns="0" rIns="0" bIns="0" rtlCol="0" anchor="t"/>
          <a:lstStyle/>
          <a:p>
            <a:pPr indent="0" marL="0">
              <a:spcAft>
                <a:spcPts val="500"/>
              </a:spcAft>
              <a:buNone/>
            </a:pPr>
            <a:r>
              <a:rPr lang="en-US" sz="1300" b="1" dirty="0">
                <a:solidFill>
                  <a:schemeClr val="accent1"/>
                </a:solidFill>
                <a:latin typeface="Courier New" pitchFamily="34" charset="0"/>
                <a:ea typeface="Courier New" pitchFamily="34" charset="-122"/>
                <a:cs typeface="Courier New" pitchFamily="34" charset="-120"/>
              </a:rPr>
              <a:t>practica-hsf-segundo-corte/</a:t>
            </a:r>
            <a:pPr indent="0" marL="0">
              <a:spcAft>
                <a:spcPts val="500"/>
              </a:spcAft>
              <a:buNone/>
            </a:pP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hsf_app/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aplicación modular</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firmware/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firmware simulado</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tests/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28 pruebas pytest</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scripts/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demo y fallos controlados</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diagramas/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arquitectura y flujo</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docs/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documento técnico, matriz</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data/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evidencia real CSV y JSON</a:t>
            </a:r>
            <a:endParaRPr lang="en-US" sz="1300" dirty="0"/>
          </a:p>
          <a:p>
            <a:pPr indent="0" marL="0">
              <a:spcAft>
                <a:spcPts val="500"/>
              </a:spcAft>
              <a:buNone/>
            </a:pPr>
            <a:r>
              <a:rPr lang="en-US" sz="1300" dirty="0">
                <a:solidFill>
                  <a:schemeClr val="bg1"/>
                </a:solidFill>
                <a:latin typeface="Courier New" pitchFamily="34" charset="0"/>
                <a:ea typeface="Courier New" pitchFamily="34" charset="-122"/>
                <a:cs typeface="Courier New" pitchFamily="34" charset="-120"/>
              </a:rPr>
              <a:t>└── logs/       </a:t>
            </a:r>
            <a:pPr indent="0" marL="0">
              <a:spcAft>
                <a:spcPts val="500"/>
              </a:spcAft>
              <a:buNone/>
            </a:pPr>
            <a:r>
              <a:rPr lang="en-US" sz="1300" dirty="0">
                <a:solidFill>
                  <a:schemeClr val="bg2"/>
                </a:solidFill>
                <a:latin typeface="Courier New" pitchFamily="34" charset="0"/>
                <a:ea typeface="Courier New" pitchFamily="34" charset="-122"/>
                <a:cs typeface="Courier New" pitchFamily="34" charset="-120"/>
              </a:rPr>
              <a:t>sistema.log</a:t>
            </a:r>
            <a:endParaRPr lang="en-US" sz="1300" dirty="0"/>
          </a:p>
        </p:txBody>
      </p:sp>
      <p:sp>
        <p:nvSpPr>
          <p:cNvPr id="6" name="texto-88"/>
          <p:cNvSpPr txBox="1"/>
          <p:nvPr/>
        </p:nvSpPr>
        <p:spPr>
          <a:xfrm>
            <a:off x="5577840" y="1143000"/>
            <a:ext cx="1051560" cy="822960"/>
          </a:xfrm>
          <a:prstGeom prst="rect">
            <a:avLst/>
          </a:prstGeom>
          <a:noFill/>
          <a:ln/>
        </p:spPr>
        <p:txBody>
          <a:bodyPr wrap="square" lIns="0" tIns="0" rIns="0" bIns="0" rtlCol="0" anchor="ctr"/>
          <a:lstStyle/>
          <a:p>
            <a:pPr indent="0" marL="0">
              <a:buNone/>
            </a:pPr>
            <a:r>
              <a:rPr lang="en-US" sz="4400" b="1" dirty="0">
                <a:solidFill>
                  <a:schemeClr val="accent4"/>
                </a:solidFill>
              </a:rPr>
              <a:t>28</a:t>
            </a:r>
            <a:endParaRPr lang="en-US" sz="4400" dirty="0"/>
          </a:p>
        </p:txBody>
      </p:sp>
      <p:sp>
        <p:nvSpPr>
          <p:cNvPr id="7" name="texto-89"/>
          <p:cNvSpPr txBox="1"/>
          <p:nvPr/>
        </p:nvSpPr>
        <p:spPr>
          <a:xfrm>
            <a:off x="6675120" y="1143000"/>
            <a:ext cx="2011680" cy="822960"/>
          </a:xfrm>
          <a:prstGeom prst="rect">
            <a:avLst/>
          </a:prstGeom>
          <a:noFill/>
          <a:ln/>
        </p:spPr>
        <p:txBody>
          <a:bodyPr wrap="square" lIns="0" tIns="0" rIns="0" bIns="0" rtlCol="0" anchor="ctr"/>
          <a:lstStyle/>
          <a:p>
            <a:pPr indent="0" marL="0">
              <a:buNone/>
            </a:pPr>
            <a:r>
              <a:rPr lang="en-US" sz="1400" dirty="0">
                <a:solidFill>
                  <a:schemeClr val="tx1"/>
                </a:solidFill>
              </a:rPr>
              <a:t>pruebas automáticas, todas en verde</a:t>
            </a:r>
            <a:endParaRPr lang="en-US" sz="1400" dirty="0"/>
          </a:p>
        </p:txBody>
      </p:sp>
      <p:sp>
        <p:nvSpPr>
          <p:cNvPr id="8" name="texto-90"/>
          <p:cNvSpPr txBox="1"/>
          <p:nvPr/>
        </p:nvSpPr>
        <p:spPr>
          <a:xfrm>
            <a:off x="5577840" y="2148840"/>
            <a:ext cx="1051560" cy="822960"/>
          </a:xfrm>
          <a:prstGeom prst="rect">
            <a:avLst/>
          </a:prstGeom>
          <a:noFill/>
          <a:ln/>
        </p:spPr>
        <p:txBody>
          <a:bodyPr wrap="square" lIns="0" tIns="0" rIns="0" bIns="0" rtlCol="0" anchor="ctr"/>
          <a:lstStyle/>
          <a:p>
            <a:pPr indent="0" marL="0">
              <a:buNone/>
            </a:pPr>
            <a:r>
              <a:rPr lang="en-US" sz="4400" b="1" dirty="0">
                <a:solidFill>
                  <a:schemeClr val="accent6"/>
                </a:solidFill>
              </a:rPr>
              <a:t>6</a:t>
            </a:r>
            <a:endParaRPr lang="en-US" sz="4400" dirty="0"/>
          </a:p>
        </p:txBody>
      </p:sp>
      <p:sp>
        <p:nvSpPr>
          <p:cNvPr id="9" name="texto-91"/>
          <p:cNvSpPr txBox="1"/>
          <p:nvPr/>
        </p:nvSpPr>
        <p:spPr>
          <a:xfrm>
            <a:off x="6675120" y="2148840"/>
            <a:ext cx="2011680" cy="822960"/>
          </a:xfrm>
          <a:prstGeom prst="rect">
            <a:avLst/>
          </a:prstGeom>
          <a:noFill/>
          <a:ln/>
        </p:spPr>
        <p:txBody>
          <a:bodyPr wrap="square" lIns="0" tIns="0" rIns="0" bIns="0" rtlCol="0" anchor="ctr"/>
          <a:lstStyle/>
          <a:p>
            <a:pPr indent="0" marL="0">
              <a:buNone/>
            </a:pPr>
            <a:r>
              <a:rPr lang="en-US" sz="1400" dirty="0">
                <a:solidFill>
                  <a:schemeClr val="tx1"/>
                </a:solidFill>
              </a:rPr>
              <a:t>fallos controlados ejecutados de verdad</a:t>
            </a:r>
            <a:endParaRPr lang="en-US" sz="1400" dirty="0"/>
          </a:p>
        </p:txBody>
      </p:sp>
      <p:sp>
        <p:nvSpPr>
          <p:cNvPr id="10" name="tarjeta-92"/>
          <p:cNvSpPr/>
          <p:nvPr/>
        </p:nvSpPr>
        <p:spPr>
          <a:xfrm>
            <a:off x="5577840" y="3246120"/>
            <a:ext cx="3108960" cy="1188720"/>
          </a:xfrm>
          <a:prstGeom prst="roundRect">
            <a:avLst>
              <a:gd name="adj" fmla="val 7692"/>
            </a:avLst>
          </a:prstGeom>
          <a:solidFill>
            <a:schemeClr val="bg2"/>
          </a:solidFill>
          <a:ln/>
        </p:spPr>
      </p:sp>
      <p:sp>
        <p:nvSpPr>
          <p:cNvPr id="11" name="circulo-93"/>
          <p:cNvSpPr/>
          <p:nvPr/>
        </p:nvSpPr>
        <p:spPr>
          <a:xfrm>
            <a:off x="5760720" y="3429000"/>
            <a:ext cx="457200" cy="457200"/>
          </a:xfrm>
          <a:prstGeom prst="ellipse">
            <a:avLst/>
          </a:prstGeom>
          <a:solidFill>
            <a:schemeClr val="tx1"/>
          </a:solidFill>
          <a:ln/>
        </p:spPr>
      </p:sp>
      <p:pic>
        <p:nvPicPr>
          <p:cNvPr id="12" name="icono-94" descr="preencoded.png">    </p:cNvPr>
          <p:cNvPicPr>
            <a:picLocks noChangeAspect="1"/>
          </p:cNvPicPr>
          <p:nvPr/>
        </p:nvPicPr>
        <p:blipFill>
          <a:blip r:embed="rId1"/>
          <a:stretch>
            <a:fillRect/>
          </a:stretch>
        </p:blipFill>
        <p:spPr>
          <a:xfrm>
            <a:off x="5861304" y="3529584"/>
            <a:ext cx="256032" cy="256032"/>
          </a:xfrm>
          <a:prstGeom prst="rect">
            <a:avLst/>
          </a:prstGeom>
        </p:spPr>
      </p:pic>
      <p:sp>
        <p:nvSpPr>
          <p:cNvPr id="13" name="texto-95"/>
          <p:cNvSpPr txBox="1"/>
          <p:nvPr/>
        </p:nvSpPr>
        <p:spPr>
          <a:xfrm>
            <a:off x="6355080" y="3337560"/>
            <a:ext cx="2286000" cy="1005840"/>
          </a:xfrm>
          <a:prstGeom prst="rect">
            <a:avLst/>
          </a:prstGeom>
          <a:noFill/>
          <a:ln/>
        </p:spPr>
        <p:txBody>
          <a:bodyPr wrap="square" lIns="0" tIns="0" rIns="0" bIns="0" rtlCol="0" anchor="ctr"/>
          <a:lstStyle/>
          <a:p>
            <a:pPr indent="0" marL="0">
              <a:buNone/>
            </a:pPr>
            <a:r>
              <a:rPr lang="en-US" sz="1200" dirty="0">
                <a:solidFill>
                  <a:schemeClr val="tx1"/>
                </a:solidFill>
              </a:rPr>
              <a:t>github.com/Facabore/</a:t>
            </a:r>
            <a:endParaRPr lang="en-US" sz="1200" dirty="0"/>
          </a:p>
          <a:p>
            <a:pPr indent="0" marL="0">
              <a:buNone/>
            </a:pPr>
            <a:r>
              <a:rPr lang="en-US" sz="1200" b="1" dirty="0">
                <a:solidFill>
                  <a:schemeClr val="tx1"/>
                </a:solidFill>
              </a:rPr>
              <a:t>practica-hsf-segundo-corte</a:t>
            </a:r>
            <a:endParaRPr lang="en-US" sz="1200" dirty="0"/>
          </a:p>
          <a:p>
            <a:pPr indent="0" marL="0">
              <a:buNone/>
            </a:pPr>
            <a:r>
              <a:rPr lang="en-US" sz="1100" dirty="0">
                <a:solidFill>
                  <a:schemeClr val="tx1"/>
                </a:solidFill>
              </a:rPr>
              <a:t>Público · rama main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Firmware simulado</a:t>
            </a:r>
            <a:endParaRPr lang="en-US" sz="3600" dirty="0"/>
          </a:p>
        </p:txBody>
      </p:sp>
      <p:sp>
        <p:nvSpPr>
          <p:cNvPr id="4" name="tarjeta-96"/>
          <p:cNvSpPr/>
          <p:nvPr/>
        </p:nvSpPr>
        <p:spPr>
          <a:xfrm>
            <a:off x="457200" y="1143000"/>
            <a:ext cx="4846320" cy="3291840"/>
          </a:xfrm>
          <a:prstGeom prst="roundRect">
            <a:avLst>
              <a:gd name="adj" fmla="val 2778"/>
            </a:avLst>
          </a:prstGeom>
          <a:solidFill>
            <a:schemeClr val="tx2"/>
          </a:solidFill>
          <a:ln/>
        </p:spPr>
      </p:sp>
      <p:sp>
        <p:nvSpPr>
          <p:cNvPr id="5" name="texto-97"/>
          <p:cNvSpPr txBox="1"/>
          <p:nvPr/>
        </p:nvSpPr>
        <p:spPr>
          <a:xfrm>
            <a:off x="685800" y="1280160"/>
            <a:ext cx="2743200" cy="274320"/>
          </a:xfrm>
          <a:prstGeom prst="rect">
            <a:avLst/>
          </a:prstGeom>
          <a:noFill/>
          <a:ln/>
        </p:spPr>
        <p:txBody>
          <a:bodyPr wrap="square" lIns="0" tIns="0" rIns="0" bIns="0" rtlCol="0" anchor="ctr"/>
          <a:lstStyle/>
          <a:p>
            <a:pPr indent="0" marL="0">
              <a:buNone/>
            </a:pPr>
            <a:r>
              <a:rPr lang="en-US" sz="1100" dirty="0">
                <a:solidFill>
                  <a:schemeClr val="bg2"/>
                </a:solidFill>
              </a:rPr>
              <a:t>Trama real recibida (anómala)</a:t>
            </a:r>
            <a:endParaRPr lang="en-US" sz="1100" dirty="0"/>
          </a:p>
        </p:txBody>
      </p:sp>
      <p:sp>
        <p:nvSpPr>
          <p:cNvPr id="6" name="en-vivo-98"/>
          <p:cNvSpPr txBox="1"/>
          <p:nvPr/>
        </p:nvSpPr>
        <p:spPr>
          <a:xfrm>
            <a:off x="4069080" y="1261872"/>
            <a:ext cx="1051560" cy="310896"/>
          </a:xfrm>
          <a:prstGeom prst="roundRect">
            <a:avLst>
              <a:gd name="adj" fmla="val 35294"/>
            </a:avLst>
          </a:prstGeom>
          <a:solidFill>
            <a:schemeClr val="accent6"/>
          </a:solidFill>
          <a:ln/>
        </p:spPr>
        <p:txBody>
          <a:bodyPr wrap="square" lIns="0" tIns="0" rIns="0" bIns="0" rtlCol="0" anchor="ctr"/>
          <a:lstStyle/>
          <a:p>
            <a:pPr algn="ctr" indent="0" marL="0">
              <a:buNone/>
            </a:pPr>
            <a:r>
              <a:rPr lang="en-US" sz="1100" b="1" dirty="0">
                <a:solidFill>
                  <a:schemeClr val="bg1"/>
                </a:solidFill>
              </a:rPr>
              <a:t>EN VIVO</a:t>
            </a:r>
            <a:endParaRPr lang="en-US" sz="1100" dirty="0"/>
          </a:p>
        </p:txBody>
      </p:sp>
      <p:sp>
        <p:nvSpPr>
          <p:cNvPr id="7" name="texto-99"/>
          <p:cNvSpPr txBox="1"/>
          <p:nvPr/>
        </p:nvSpPr>
        <p:spPr>
          <a:xfrm>
            <a:off x="685800" y="1783080"/>
            <a:ext cx="4480560" cy="214884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"device_id": "SIM-001",</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"timestamp": "2026-10-07T00:51:00Z",</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"temperatura_c": 26.45,</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"humedad_pct": 39.68,</a:t>
            </a:r>
            <a:endParaRPr lang="en-US" sz="1400" dirty="0"/>
          </a:p>
          <a:p>
            <a:pPr indent="0" marL="0">
              <a:spcAft>
                <a:spcPts val="400"/>
              </a:spcAft>
              <a:buNone/>
            </a:pPr>
            <a:r>
              <a:rPr lang="en-US" sz="1400" b="1" dirty="0">
                <a:solidFill>
                  <a:schemeClr val="accent1"/>
                </a:solidFill>
                <a:latin typeface="Courier New" pitchFamily="34" charset="0"/>
                <a:ea typeface="Courier New" pitchFamily="34" charset="-122"/>
                <a:cs typeface="Courier New" pitchFamily="34" charset="-120"/>
              </a:rPr>
              <a:t>  "vibracion_mm_s": 12.95</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 name="texto-100"/>
          <p:cNvSpPr txBox="1"/>
          <p:nvPr/>
        </p:nvSpPr>
        <p:spPr>
          <a:xfrm>
            <a:off x="685800" y="3931920"/>
            <a:ext cx="4480560" cy="365760"/>
          </a:xfrm>
          <a:prstGeom prst="rect">
            <a:avLst/>
          </a:prstGeom>
          <a:noFill/>
          <a:ln/>
        </p:spPr>
        <p:txBody>
          <a:bodyPr wrap="square" lIns="0" tIns="0" rIns="0" bIns="0" rtlCol="0" anchor="ctr"/>
          <a:lstStyle/>
          <a:p>
            <a:pPr indent="0" marL="0">
              <a:buNone/>
            </a:pPr>
            <a:r>
              <a:rPr lang="en-US" sz="1300" b="1" dirty="0">
                <a:solidFill>
                  <a:schemeClr val="accent1"/>
                </a:solidFill>
              </a:rPr>
              <a:t>vibración 12.95 mm/s &gt; umbral de 5.0 → anómala</a:t>
            </a:r>
            <a:endParaRPr lang="en-US" sz="1300" dirty="0"/>
          </a:p>
        </p:txBody>
      </p:sp>
      <p:sp>
        <p:nvSpPr>
          <p:cNvPr id="9" name="circulo-101"/>
          <p:cNvSpPr/>
          <p:nvPr/>
        </p:nvSpPr>
        <p:spPr>
          <a:xfrm>
            <a:off x="5623560" y="1234440"/>
            <a:ext cx="411480" cy="411480"/>
          </a:xfrm>
          <a:prstGeom prst="ellipse">
            <a:avLst/>
          </a:prstGeom>
          <a:solidFill>
            <a:schemeClr val="accent3"/>
          </a:solidFill>
          <a:ln/>
        </p:spPr>
      </p:sp>
      <p:pic>
        <p:nvPicPr>
          <p:cNvPr id="10" name="icono-102" descr="preencoded.png">    </p:cNvPr>
          <p:cNvPicPr>
            <a:picLocks noChangeAspect="1"/>
          </p:cNvPicPr>
          <p:nvPr/>
        </p:nvPicPr>
        <p:blipFill>
          <a:blip r:embed="rId1"/>
          <a:stretch>
            <a:fillRect/>
          </a:stretch>
        </p:blipFill>
        <p:spPr>
          <a:xfrm>
            <a:off x="5714086" y="1324966"/>
            <a:ext cx="230429" cy="230429"/>
          </a:xfrm>
          <a:prstGeom prst="rect">
            <a:avLst/>
          </a:prstGeom>
        </p:spPr>
      </p:pic>
      <p:sp>
        <p:nvSpPr>
          <p:cNvPr id="11" name="texto-103"/>
          <p:cNvSpPr txBox="1"/>
          <p:nvPr/>
        </p:nvSpPr>
        <p:spPr>
          <a:xfrm>
            <a:off x="6172200" y="1143000"/>
            <a:ext cx="2514600" cy="594360"/>
          </a:xfrm>
          <a:prstGeom prst="rect">
            <a:avLst/>
          </a:prstGeom>
          <a:noFill/>
          <a:ln/>
        </p:spPr>
        <p:txBody>
          <a:bodyPr wrap="square" lIns="0" tIns="0" rIns="0" bIns="0" rtlCol="0" anchor="ctr"/>
          <a:lstStyle/>
          <a:p>
            <a:pPr indent="0" marL="0">
              <a:buNone/>
            </a:pPr>
            <a:r>
              <a:rPr lang="en-US" sz="1400" dirty="0">
                <a:solidFill>
                  <a:schemeClr val="tx1"/>
                </a:solidFill>
              </a:rPr>
              <a:t>Servidor TCP en 127.0.0.1:8765</a:t>
            </a:r>
            <a:endParaRPr lang="en-US" sz="1400" dirty="0"/>
          </a:p>
        </p:txBody>
      </p:sp>
      <p:sp>
        <p:nvSpPr>
          <p:cNvPr id="12" name="circulo-104"/>
          <p:cNvSpPr/>
          <p:nvPr/>
        </p:nvSpPr>
        <p:spPr>
          <a:xfrm>
            <a:off x="5623560" y="2039112"/>
            <a:ext cx="411480" cy="411480"/>
          </a:xfrm>
          <a:prstGeom prst="ellipse">
            <a:avLst/>
          </a:prstGeom>
          <a:solidFill>
            <a:schemeClr val="accent2"/>
          </a:solidFill>
          <a:ln/>
        </p:spPr>
      </p:sp>
      <p:pic>
        <p:nvPicPr>
          <p:cNvPr id="13" name="icono-105" descr="preencoded.png">    </p:cNvPr>
          <p:cNvPicPr>
            <a:picLocks noChangeAspect="1"/>
          </p:cNvPicPr>
          <p:nvPr/>
        </p:nvPicPr>
        <p:blipFill>
          <a:blip r:embed="rId2"/>
          <a:stretch>
            <a:fillRect/>
          </a:stretch>
        </p:blipFill>
        <p:spPr>
          <a:xfrm>
            <a:off x="5714086" y="2129638"/>
            <a:ext cx="230429" cy="230429"/>
          </a:xfrm>
          <a:prstGeom prst="rect">
            <a:avLst/>
          </a:prstGeom>
        </p:spPr>
      </p:pic>
      <p:sp>
        <p:nvSpPr>
          <p:cNvPr id="14" name="texto-106"/>
          <p:cNvSpPr txBox="1"/>
          <p:nvPr/>
        </p:nvSpPr>
        <p:spPr>
          <a:xfrm>
            <a:off x="6172200" y="1947672"/>
            <a:ext cx="2514600" cy="594360"/>
          </a:xfrm>
          <a:prstGeom prst="rect">
            <a:avLst/>
          </a:prstGeom>
          <a:noFill/>
          <a:ln/>
        </p:spPr>
        <p:txBody>
          <a:bodyPr wrap="square" lIns="0" tIns="0" rIns="0" bIns="0" rtlCol="0" anchor="ctr"/>
          <a:lstStyle/>
          <a:p>
            <a:pPr indent="0" marL="0">
              <a:buNone/>
            </a:pPr>
            <a:r>
              <a:rPr lang="en-US" sz="1400" dirty="0">
                <a:solidFill>
                  <a:schemeClr val="tx1"/>
                </a:solidFill>
              </a:rPr>
              <a:t>Una trama JSON por segundo</a:t>
            </a:r>
            <a:endParaRPr lang="en-US" sz="1400" dirty="0"/>
          </a:p>
        </p:txBody>
      </p:sp>
      <p:sp>
        <p:nvSpPr>
          <p:cNvPr id="15" name="circulo-107"/>
          <p:cNvSpPr/>
          <p:nvPr/>
        </p:nvSpPr>
        <p:spPr>
          <a:xfrm>
            <a:off x="5623560" y="2843784"/>
            <a:ext cx="411480" cy="411480"/>
          </a:xfrm>
          <a:prstGeom prst="ellipse">
            <a:avLst/>
          </a:prstGeom>
          <a:solidFill>
            <a:schemeClr val="accent5"/>
          </a:solidFill>
          <a:ln/>
        </p:spPr>
      </p:sp>
      <p:pic>
        <p:nvPicPr>
          <p:cNvPr id="16" name="icono-108" descr="preencoded.png">    </p:cNvPr>
          <p:cNvPicPr>
            <a:picLocks noChangeAspect="1"/>
          </p:cNvPicPr>
          <p:nvPr/>
        </p:nvPicPr>
        <p:blipFill>
          <a:blip r:embed="rId3"/>
          <a:stretch>
            <a:fillRect/>
          </a:stretch>
        </p:blipFill>
        <p:spPr>
          <a:xfrm>
            <a:off x="5714086" y="2934310"/>
            <a:ext cx="230429" cy="230429"/>
          </a:xfrm>
          <a:prstGeom prst="rect">
            <a:avLst/>
          </a:prstGeom>
        </p:spPr>
      </p:pic>
      <p:sp>
        <p:nvSpPr>
          <p:cNvPr id="17" name="texto-109"/>
          <p:cNvSpPr txBox="1"/>
          <p:nvPr/>
        </p:nvSpPr>
        <p:spPr>
          <a:xfrm>
            <a:off x="6172200" y="2752344"/>
            <a:ext cx="2514600" cy="594360"/>
          </a:xfrm>
          <a:prstGeom prst="rect">
            <a:avLst/>
          </a:prstGeom>
          <a:noFill/>
          <a:ln/>
        </p:spPr>
        <p:txBody>
          <a:bodyPr wrap="square" lIns="0" tIns="0" rIns="0" bIns="0" rtlCol="0" anchor="ctr"/>
          <a:lstStyle/>
          <a:p>
            <a:pPr indent="0" marL="0">
              <a:buNone/>
            </a:pPr>
            <a:r>
              <a:rPr lang="en-US" sz="1400" dirty="0">
                <a:solidFill>
                  <a:schemeClr val="tx1"/>
                </a:solidFill>
              </a:rPr>
              <a:t>3 variables + device_id (RF01)</a:t>
            </a:r>
            <a:endParaRPr lang="en-US" sz="1400" dirty="0"/>
          </a:p>
        </p:txBody>
      </p:sp>
      <p:sp>
        <p:nvSpPr>
          <p:cNvPr id="18" name="circulo-110"/>
          <p:cNvSpPr/>
          <p:nvPr/>
        </p:nvSpPr>
        <p:spPr>
          <a:xfrm>
            <a:off x="5623560" y="3648456"/>
            <a:ext cx="411480" cy="411480"/>
          </a:xfrm>
          <a:prstGeom prst="ellipse">
            <a:avLst/>
          </a:prstGeom>
          <a:solidFill>
            <a:schemeClr val="accent6"/>
          </a:solidFill>
          <a:ln/>
        </p:spPr>
      </p:sp>
      <p:pic>
        <p:nvPicPr>
          <p:cNvPr id="19" name="icono-111" descr="preencoded.png">    </p:cNvPr>
          <p:cNvPicPr>
            <a:picLocks noChangeAspect="1"/>
          </p:cNvPicPr>
          <p:nvPr/>
        </p:nvPicPr>
        <p:blipFill>
          <a:blip r:embed="rId4"/>
          <a:stretch>
            <a:fillRect/>
          </a:stretch>
        </p:blipFill>
        <p:spPr>
          <a:xfrm>
            <a:off x="5714086" y="3738982"/>
            <a:ext cx="230429" cy="230429"/>
          </a:xfrm>
          <a:prstGeom prst="rect">
            <a:avLst/>
          </a:prstGeom>
        </p:spPr>
      </p:pic>
      <p:sp>
        <p:nvSpPr>
          <p:cNvPr id="20" name="texto-112"/>
          <p:cNvSpPr txBox="1"/>
          <p:nvPr/>
        </p:nvSpPr>
        <p:spPr>
          <a:xfrm>
            <a:off x="6172200" y="3557016"/>
            <a:ext cx="2514600" cy="594360"/>
          </a:xfrm>
          <a:prstGeom prst="rect">
            <a:avLst/>
          </a:prstGeom>
          <a:noFill/>
          <a:ln/>
        </p:spPr>
        <p:txBody>
          <a:bodyPr wrap="square" lIns="0" tIns="0" rIns="0" bIns="0" rtlCol="0" anchor="ctr"/>
          <a:lstStyle/>
          <a:p>
            <a:pPr indent="0" marL="0">
              <a:buNone/>
            </a:pPr>
            <a:r>
              <a:rPr lang="en-US" sz="1400" dirty="0">
                <a:solidFill>
                  <a:schemeClr val="tx1"/>
                </a:solidFill>
              </a:rPr>
              <a:t>Anomalía inyectada cada 7 ciclos (RF04)</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Aplicación Python modular</a:t>
            </a:r>
            <a:endParaRPr lang="en-US" sz="3600" dirty="0"/>
          </a:p>
        </p:txBody>
      </p:sp>
      <p:sp>
        <p:nvSpPr>
          <p:cNvPr id="4" name="tarjeta-113"/>
          <p:cNvSpPr/>
          <p:nvPr/>
        </p:nvSpPr>
        <p:spPr>
          <a:xfrm>
            <a:off x="457200" y="1143000"/>
            <a:ext cx="2560320" cy="1554480"/>
          </a:xfrm>
          <a:prstGeom prst="roundRect">
            <a:avLst>
              <a:gd name="adj" fmla="val 5882"/>
            </a:avLst>
          </a:prstGeom>
          <a:solidFill>
            <a:schemeClr val="bg2"/>
          </a:solidFill>
          <a:ln/>
        </p:spPr>
      </p:sp>
      <p:sp>
        <p:nvSpPr>
          <p:cNvPr id="5" name="circulo-114"/>
          <p:cNvSpPr/>
          <p:nvPr/>
        </p:nvSpPr>
        <p:spPr>
          <a:xfrm>
            <a:off x="640080" y="1325880"/>
            <a:ext cx="411480" cy="411480"/>
          </a:xfrm>
          <a:prstGeom prst="ellipse">
            <a:avLst/>
          </a:prstGeom>
          <a:solidFill>
            <a:schemeClr val="accent2"/>
          </a:solidFill>
          <a:ln/>
        </p:spPr>
      </p:sp>
      <p:pic>
        <p:nvPicPr>
          <p:cNvPr id="6" name="icono-115" descr="preencoded.png">    </p:cNvPr>
          <p:cNvPicPr>
            <a:picLocks noChangeAspect="1"/>
          </p:cNvPicPr>
          <p:nvPr/>
        </p:nvPicPr>
        <p:blipFill>
          <a:blip r:embed="rId1"/>
          <a:stretch>
            <a:fillRect/>
          </a:stretch>
        </p:blipFill>
        <p:spPr>
          <a:xfrm>
            <a:off x="730606" y="1416406"/>
            <a:ext cx="230429" cy="230429"/>
          </a:xfrm>
          <a:prstGeom prst="rect">
            <a:avLst/>
          </a:prstGeom>
        </p:spPr>
      </p:pic>
      <p:sp>
        <p:nvSpPr>
          <p:cNvPr id="7" name="texto-116"/>
          <p:cNvSpPr txBox="1"/>
          <p:nvPr/>
        </p:nvSpPr>
        <p:spPr>
          <a:xfrm>
            <a:off x="1170432" y="1325880"/>
            <a:ext cx="1783080" cy="411480"/>
          </a:xfrm>
          <a:prstGeom prst="rect">
            <a:avLst/>
          </a:prstGeom>
          <a:noFill/>
          <a:ln/>
        </p:spPr>
        <p:txBody>
          <a:bodyPr wrap="square" lIns="0" tIns="0" rIns="0" bIns="0" rtlCol="0" anchor="ctr"/>
          <a:lstStyle/>
          <a:p>
            <a:pPr indent="0" marL="0">
              <a:buNone/>
            </a:pPr>
            <a:r>
              <a:rPr lang="en-US" sz="1400" b="1" dirty="0">
                <a:solidFill>
                  <a:schemeClr val="tx1"/>
                </a:solidFill>
              </a:rPr>
              <a:t>acquisition.py</a:t>
            </a:r>
            <a:endParaRPr lang="en-US" sz="1400" dirty="0"/>
          </a:p>
        </p:txBody>
      </p:sp>
      <p:sp>
        <p:nvSpPr>
          <p:cNvPr id="8" name="texto-117"/>
          <p:cNvSpPr txBox="1"/>
          <p:nvPr/>
        </p:nvSpPr>
        <p:spPr>
          <a:xfrm>
            <a:off x="640080" y="1828800"/>
            <a:ext cx="2240280" cy="548640"/>
          </a:xfrm>
          <a:prstGeom prst="rect">
            <a:avLst/>
          </a:prstGeom>
          <a:noFill/>
          <a:ln/>
        </p:spPr>
        <p:txBody>
          <a:bodyPr wrap="square" lIns="0" tIns="0" rIns="0" bIns="0" rtlCol="0" anchor="t"/>
          <a:lstStyle/>
          <a:p>
            <a:pPr indent="0" marL="0">
              <a:buNone/>
            </a:pPr>
            <a:r>
              <a:rPr lang="en-US" sz="1400" dirty="0">
                <a:solidFill>
                  <a:schemeClr val="tx1"/>
                </a:solidFill>
              </a:rPr>
              <a:t>Cliente TCP con reconexión y backoff</a:t>
            </a:r>
            <a:endParaRPr lang="en-US" sz="1400" dirty="0"/>
          </a:p>
        </p:txBody>
      </p:sp>
      <p:sp>
        <p:nvSpPr>
          <p:cNvPr id="9" name="texto-118"/>
          <p:cNvSpPr txBox="1"/>
          <p:nvPr/>
        </p:nvSpPr>
        <p:spPr>
          <a:xfrm>
            <a:off x="640080" y="2377440"/>
            <a:ext cx="2240280" cy="228600"/>
          </a:xfrm>
          <a:prstGeom prst="rect">
            <a:avLst/>
          </a:prstGeom>
          <a:noFill/>
          <a:ln/>
        </p:spPr>
        <p:txBody>
          <a:bodyPr wrap="square" lIns="0" tIns="0" rIns="0" bIns="0" rtlCol="0" anchor="ctr"/>
          <a:lstStyle/>
          <a:p>
            <a:pPr indent="0" marL="0">
              <a:buNone/>
            </a:pPr>
            <a:r>
              <a:rPr lang="en-US" sz="1100" b="1" dirty="0">
                <a:solidFill>
                  <a:schemeClr val="accent2"/>
                </a:solidFill>
              </a:rPr>
              <a:t>RF02 · RF09</a:t>
            </a:r>
            <a:endParaRPr lang="en-US" sz="1100" dirty="0"/>
          </a:p>
        </p:txBody>
      </p:sp>
      <p:sp>
        <p:nvSpPr>
          <p:cNvPr id="10" name="tarjeta-119"/>
          <p:cNvSpPr/>
          <p:nvPr/>
        </p:nvSpPr>
        <p:spPr>
          <a:xfrm>
            <a:off x="3291840" y="1143000"/>
            <a:ext cx="2560320" cy="1554480"/>
          </a:xfrm>
          <a:prstGeom prst="roundRect">
            <a:avLst>
              <a:gd name="adj" fmla="val 5882"/>
            </a:avLst>
          </a:prstGeom>
          <a:solidFill>
            <a:schemeClr val="bg2"/>
          </a:solidFill>
          <a:ln/>
        </p:spPr>
      </p:sp>
      <p:sp>
        <p:nvSpPr>
          <p:cNvPr id="11" name="circulo-120"/>
          <p:cNvSpPr/>
          <p:nvPr/>
        </p:nvSpPr>
        <p:spPr>
          <a:xfrm>
            <a:off x="3474720" y="1325880"/>
            <a:ext cx="411480" cy="411480"/>
          </a:xfrm>
          <a:prstGeom prst="ellipse">
            <a:avLst/>
          </a:prstGeom>
          <a:solidFill>
            <a:schemeClr val="accent2"/>
          </a:solidFill>
          <a:ln/>
        </p:spPr>
      </p:sp>
      <p:pic>
        <p:nvPicPr>
          <p:cNvPr id="12" name="icono-121" descr="preencoded.png">    </p:cNvPr>
          <p:cNvPicPr>
            <a:picLocks noChangeAspect="1"/>
          </p:cNvPicPr>
          <p:nvPr/>
        </p:nvPicPr>
        <p:blipFill>
          <a:blip r:embed="rId2"/>
          <a:stretch>
            <a:fillRect/>
          </a:stretch>
        </p:blipFill>
        <p:spPr>
          <a:xfrm>
            <a:off x="3565246" y="1416406"/>
            <a:ext cx="230429" cy="230429"/>
          </a:xfrm>
          <a:prstGeom prst="rect">
            <a:avLst/>
          </a:prstGeom>
        </p:spPr>
      </p:pic>
      <p:sp>
        <p:nvSpPr>
          <p:cNvPr id="13" name="texto-122"/>
          <p:cNvSpPr txBox="1"/>
          <p:nvPr/>
        </p:nvSpPr>
        <p:spPr>
          <a:xfrm>
            <a:off x="4005072" y="1325880"/>
            <a:ext cx="1783080" cy="411480"/>
          </a:xfrm>
          <a:prstGeom prst="rect">
            <a:avLst/>
          </a:prstGeom>
          <a:noFill/>
          <a:ln/>
        </p:spPr>
        <p:txBody>
          <a:bodyPr wrap="square" lIns="0" tIns="0" rIns="0" bIns="0" rtlCol="0" anchor="ctr"/>
          <a:lstStyle/>
          <a:p>
            <a:pPr indent="0" marL="0">
              <a:buNone/>
            </a:pPr>
            <a:r>
              <a:rPr lang="en-US" sz="1400" b="1" dirty="0">
                <a:solidFill>
                  <a:schemeClr val="tx1"/>
                </a:solidFill>
              </a:rPr>
              <a:t>validation.py</a:t>
            </a:r>
            <a:endParaRPr lang="en-US" sz="1400" dirty="0"/>
          </a:p>
        </p:txBody>
      </p:sp>
      <p:sp>
        <p:nvSpPr>
          <p:cNvPr id="14" name="texto-123"/>
          <p:cNvSpPr txBox="1"/>
          <p:nvPr/>
        </p:nvSpPr>
        <p:spPr>
          <a:xfrm>
            <a:off x="3474720" y="1828800"/>
            <a:ext cx="2240280" cy="548640"/>
          </a:xfrm>
          <a:prstGeom prst="rect">
            <a:avLst/>
          </a:prstGeom>
          <a:noFill/>
          <a:ln/>
        </p:spPr>
        <p:txBody>
          <a:bodyPr wrap="square" lIns="0" tIns="0" rIns="0" bIns="0" rtlCol="0" anchor="t"/>
          <a:lstStyle/>
          <a:p>
            <a:pPr indent="0" marL="0">
              <a:buNone/>
            </a:pPr>
            <a:r>
              <a:rPr lang="en-US" sz="1400" dirty="0">
                <a:solidFill>
                  <a:schemeClr val="tx1"/>
                </a:solidFill>
              </a:rPr>
              <a:t>Estructura, tipo y rango de cada lectura</a:t>
            </a:r>
            <a:endParaRPr lang="en-US" sz="1400" dirty="0"/>
          </a:p>
        </p:txBody>
      </p:sp>
      <p:sp>
        <p:nvSpPr>
          <p:cNvPr id="15" name="texto-124"/>
          <p:cNvSpPr txBox="1"/>
          <p:nvPr/>
        </p:nvSpPr>
        <p:spPr>
          <a:xfrm>
            <a:off x="3474720" y="2377440"/>
            <a:ext cx="2240280" cy="228600"/>
          </a:xfrm>
          <a:prstGeom prst="rect">
            <a:avLst/>
          </a:prstGeom>
          <a:noFill/>
          <a:ln/>
        </p:spPr>
        <p:txBody>
          <a:bodyPr wrap="square" lIns="0" tIns="0" rIns="0" bIns="0" rtlCol="0" anchor="ctr"/>
          <a:lstStyle/>
          <a:p>
            <a:pPr indent="0" marL="0">
              <a:buNone/>
            </a:pPr>
            <a:r>
              <a:rPr lang="en-US" sz="1100" b="1" dirty="0">
                <a:solidFill>
                  <a:schemeClr val="accent2"/>
                </a:solidFill>
              </a:rPr>
              <a:t>RF03</a:t>
            </a:r>
            <a:endParaRPr lang="en-US" sz="1100" dirty="0"/>
          </a:p>
        </p:txBody>
      </p:sp>
      <p:sp>
        <p:nvSpPr>
          <p:cNvPr id="16" name="tarjeta-125"/>
          <p:cNvSpPr/>
          <p:nvPr/>
        </p:nvSpPr>
        <p:spPr>
          <a:xfrm>
            <a:off x="6126480" y="1143000"/>
            <a:ext cx="2560320" cy="1554480"/>
          </a:xfrm>
          <a:prstGeom prst="roundRect">
            <a:avLst>
              <a:gd name="adj" fmla="val 5882"/>
            </a:avLst>
          </a:prstGeom>
          <a:solidFill>
            <a:schemeClr val="bg2"/>
          </a:solidFill>
          <a:ln/>
        </p:spPr>
      </p:sp>
      <p:sp>
        <p:nvSpPr>
          <p:cNvPr id="17" name="circulo-126"/>
          <p:cNvSpPr/>
          <p:nvPr/>
        </p:nvSpPr>
        <p:spPr>
          <a:xfrm>
            <a:off x="6309360" y="1325880"/>
            <a:ext cx="411480" cy="411480"/>
          </a:xfrm>
          <a:prstGeom prst="ellipse">
            <a:avLst/>
          </a:prstGeom>
          <a:solidFill>
            <a:schemeClr val="accent2"/>
          </a:solidFill>
          <a:ln/>
        </p:spPr>
      </p:sp>
      <p:pic>
        <p:nvPicPr>
          <p:cNvPr id="18" name="icono-127" descr="preencoded.png">    </p:cNvPr>
          <p:cNvPicPr>
            <a:picLocks noChangeAspect="1"/>
          </p:cNvPicPr>
          <p:nvPr/>
        </p:nvPicPr>
        <p:blipFill>
          <a:blip r:embed="rId3"/>
          <a:stretch>
            <a:fillRect/>
          </a:stretch>
        </p:blipFill>
        <p:spPr>
          <a:xfrm>
            <a:off x="6399886" y="1416406"/>
            <a:ext cx="230429" cy="230429"/>
          </a:xfrm>
          <a:prstGeom prst="rect">
            <a:avLst/>
          </a:prstGeom>
        </p:spPr>
      </p:pic>
      <p:sp>
        <p:nvSpPr>
          <p:cNvPr id="19" name="texto-128"/>
          <p:cNvSpPr txBox="1"/>
          <p:nvPr/>
        </p:nvSpPr>
        <p:spPr>
          <a:xfrm>
            <a:off x="6839712" y="1325880"/>
            <a:ext cx="1783080" cy="411480"/>
          </a:xfrm>
          <a:prstGeom prst="rect">
            <a:avLst/>
          </a:prstGeom>
          <a:noFill/>
          <a:ln/>
        </p:spPr>
        <p:txBody>
          <a:bodyPr wrap="square" lIns="0" tIns="0" rIns="0" bIns="0" rtlCol="0" anchor="ctr"/>
          <a:lstStyle/>
          <a:p>
            <a:pPr indent="0" marL="0">
              <a:buNone/>
            </a:pPr>
            <a:r>
              <a:rPr lang="en-US" sz="1400" b="1" dirty="0">
                <a:solidFill>
                  <a:schemeClr val="tx1"/>
                </a:solidFill>
              </a:rPr>
              <a:t>processing.py</a:t>
            </a:r>
            <a:endParaRPr lang="en-US" sz="1400" dirty="0"/>
          </a:p>
        </p:txBody>
      </p:sp>
      <p:sp>
        <p:nvSpPr>
          <p:cNvPr id="20" name="texto-129"/>
          <p:cNvSpPr txBox="1"/>
          <p:nvPr/>
        </p:nvSpPr>
        <p:spPr>
          <a:xfrm>
            <a:off x="6309360" y="1828800"/>
            <a:ext cx="2240280" cy="548640"/>
          </a:xfrm>
          <a:prstGeom prst="rect">
            <a:avLst/>
          </a:prstGeom>
          <a:noFill/>
          <a:ln/>
        </p:spPr>
        <p:txBody>
          <a:bodyPr wrap="square" lIns="0" tIns="0" rIns="0" bIns="0" rtlCol="0" anchor="t"/>
          <a:lstStyle/>
          <a:p>
            <a:pPr indent="0" marL="0">
              <a:buNone/>
            </a:pPr>
            <a:r>
              <a:rPr lang="en-US" sz="1400" dirty="0">
                <a:solidFill>
                  <a:schemeClr val="tx1"/>
                </a:solidFill>
              </a:rPr>
              <a:t>Clasifica normal o anómala por umbrales</a:t>
            </a:r>
            <a:endParaRPr lang="en-US" sz="1400" dirty="0"/>
          </a:p>
        </p:txBody>
      </p:sp>
      <p:sp>
        <p:nvSpPr>
          <p:cNvPr id="21" name="texto-130"/>
          <p:cNvSpPr txBox="1"/>
          <p:nvPr/>
        </p:nvSpPr>
        <p:spPr>
          <a:xfrm>
            <a:off x="6309360" y="2377440"/>
            <a:ext cx="2240280" cy="228600"/>
          </a:xfrm>
          <a:prstGeom prst="rect">
            <a:avLst/>
          </a:prstGeom>
          <a:noFill/>
          <a:ln/>
        </p:spPr>
        <p:txBody>
          <a:bodyPr wrap="square" lIns="0" tIns="0" rIns="0" bIns="0" rtlCol="0" anchor="ctr"/>
          <a:lstStyle/>
          <a:p>
            <a:pPr indent="0" marL="0">
              <a:buNone/>
            </a:pPr>
            <a:r>
              <a:rPr lang="en-US" sz="1100" b="1" dirty="0">
                <a:solidFill>
                  <a:schemeClr val="accent2"/>
                </a:solidFill>
              </a:rPr>
              <a:t>RF04</a:t>
            </a:r>
            <a:endParaRPr lang="en-US" sz="1100" dirty="0"/>
          </a:p>
        </p:txBody>
      </p:sp>
      <p:sp>
        <p:nvSpPr>
          <p:cNvPr id="22" name="tarjeta-131"/>
          <p:cNvSpPr/>
          <p:nvPr/>
        </p:nvSpPr>
        <p:spPr>
          <a:xfrm>
            <a:off x="457200" y="2926080"/>
            <a:ext cx="2560320" cy="1554480"/>
          </a:xfrm>
          <a:prstGeom prst="roundRect">
            <a:avLst>
              <a:gd name="adj" fmla="val 5882"/>
            </a:avLst>
          </a:prstGeom>
          <a:solidFill>
            <a:schemeClr val="bg2"/>
          </a:solidFill>
          <a:ln/>
        </p:spPr>
      </p:sp>
      <p:sp>
        <p:nvSpPr>
          <p:cNvPr id="23" name="circulo-132"/>
          <p:cNvSpPr/>
          <p:nvPr/>
        </p:nvSpPr>
        <p:spPr>
          <a:xfrm>
            <a:off x="640080" y="3108960"/>
            <a:ext cx="411480" cy="411480"/>
          </a:xfrm>
          <a:prstGeom prst="ellipse">
            <a:avLst/>
          </a:prstGeom>
          <a:solidFill>
            <a:schemeClr val="accent3"/>
          </a:solidFill>
          <a:ln/>
        </p:spPr>
      </p:sp>
      <p:pic>
        <p:nvPicPr>
          <p:cNvPr id="24" name="icono-133" descr="preencoded.png">    </p:cNvPr>
          <p:cNvPicPr>
            <a:picLocks noChangeAspect="1"/>
          </p:cNvPicPr>
          <p:nvPr/>
        </p:nvPicPr>
        <p:blipFill>
          <a:blip r:embed="rId4"/>
          <a:stretch>
            <a:fillRect/>
          </a:stretch>
        </p:blipFill>
        <p:spPr>
          <a:xfrm>
            <a:off x="730606" y="3199486"/>
            <a:ext cx="230429" cy="230429"/>
          </a:xfrm>
          <a:prstGeom prst="rect">
            <a:avLst/>
          </a:prstGeom>
        </p:spPr>
      </p:pic>
      <p:sp>
        <p:nvSpPr>
          <p:cNvPr id="25" name="texto-134"/>
          <p:cNvSpPr txBox="1"/>
          <p:nvPr/>
        </p:nvSpPr>
        <p:spPr>
          <a:xfrm>
            <a:off x="1170432" y="3108960"/>
            <a:ext cx="1783080" cy="411480"/>
          </a:xfrm>
          <a:prstGeom prst="rect">
            <a:avLst/>
          </a:prstGeom>
          <a:noFill/>
          <a:ln/>
        </p:spPr>
        <p:txBody>
          <a:bodyPr wrap="square" lIns="0" tIns="0" rIns="0" bIns="0" rtlCol="0" anchor="ctr"/>
          <a:lstStyle/>
          <a:p>
            <a:pPr indent="0" marL="0">
              <a:buNone/>
            </a:pPr>
            <a:r>
              <a:rPr lang="en-US" sz="1400" b="1" dirty="0">
                <a:solidFill>
                  <a:schemeClr val="tx1"/>
                </a:solidFill>
              </a:rPr>
              <a:t>os_resources.py</a:t>
            </a:r>
            <a:endParaRPr lang="en-US" sz="1400" dirty="0"/>
          </a:p>
        </p:txBody>
      </p:sp>
      <p:sp>
        <p:nvSpPr>
          <p:cNvPr id="26" name="texto-135"/>
          <p:cNvSpPr txBox="1"/>
          <p:nvPr/>
        </p:nvSpPr>
        <p:spPr>
          <a:xfrm>
            <a:off x="640080" y="3611880"/>
            <a:ext cx="2240280" cy="548640"/>
          </a:xfrm>
          <a:prstGeom prst="rect">
            <a:avLst/>
          </a:prstGeom>
          <a:noFill/>
          <a:ln/>
        </p:spPr>
        <p:txBody>
          <a:bodyPr wrap="square" lIns="0" tIns="0" rIns="0" bIns="0" rtlCol="0" anchor="t"/>
          <a:lstStyle/>
          <a:p>
            <a:pPr indent="0" marL="0">
              <a:buNone/>
            </a:pPr>
            <a:r>
              <a:rPr lang="en-US" sz="1400" dirty="0">
                <a:solidFill>
                  <a:schemeClr val="tx1"/>
                </a:solidFill>
              </a:rPr>
              <a:t>CPU, memoria, disco, PID y entorno</a:t>
            </a:r>
            <a:endParaRPr lang="en-US" sz="1400" dirty="0"/>
          </a:p>
        </p:txBody>
      </p:sp>
      <p:sp>
        <p:nvSpPr>
          <p:cNvPr id="27" name="texto-136"/>
          <p:cNvSpPr txBox="1"/>
          <p:nvPr/>
        </p:nvSpPr>
        <p:spPr>
          <a:xfrm>
            <a:off x="640080" y="4160520"/>
            <a:ext cx="2240280" cy="228600"/>
          </a:xfrm>
          <a:prstGeom prst="rect">
            <a:avLst/>
          </a:prstGeom>
          <a:noFill/>
          <a:ln/>
        </p:spPr>
        <p:txBody>
          <a:bodyPr wrap="square" lIns="0" tIns="0" rIns="0" bIns="0" rtlCol="0" anchor="ctr"/>
          <a:lstStyle/>
          <a:p>
            <a:pPr indent="0" marL="0">
              <a:buNone/>
            </a:pPr>
            <a:r>
              <a:rPr lang="en-US" sz="1100" b="1" dirty="0">
                <a:solidFill>
                  <a:schemeClr val="accent3"/>
                </a:solidFill>
              </a:rPr>
              <a:t>RF06</a:t>
            </a:r>
            <a:endParaRPr lang="en-US" sz="1100" dirty="0"/>
          </a:p>
        </p:txBody>
      </p:sp>
      <p:sp>
        <p:nvSpPr>
          <p:cNvPr id="28" name="tarjeta-137"/>
          <p:cNvSpPr/>
          <p:nvPr/>
        </p:nvSpPr>
        <p:spPr>
          <a:xfrm>
            <a:off x="3291840" y="2926080"/>
            <a:ext cx="2560320" cy="1554480"/>
          </a:xfrm>
          <a:prstGeom prst="roundRect">
            <a:avLst>
              <a:gd name="adj" fmla="val 5882"/>
            </a:avLst>
          </a:prstGeom>
          <a:solidFill>
            <a:schemeClr val="bg2"/>
          </a:solidFill>
          <a:ln/>
        </p:spPr>
      </p:sp>
      <p:sp>
        <p:nvSpPr>
          <p:cNvPr id="29" name="circulo-138"/>
          <p:cNvSpPr/>
          <p:nvPr/>
        </p:nvSpPr>
        <p:spPr>
          <a:xfrm>
            <a:off x="3474720" y="3108960"/>
            <a:ext cx="411480" cy="411480"/>
          </a:xfrm>
          <a:prstGeom prst="ellipse">
            <a:avLst/>
          </a:prstGeom>
          <a:solidFill>
            <a:schemeClr val="accent4"/>
          </a:solidFill>
          <a:ln/>
        </p:spPr>
      </p:sp>
      <p:pic>
        <p:nvPicPr>
          <p:cNvPr id="30" name="icono-139" descr="preencoded.png">    </p:cNvPr>
          <p:cNvPicPr>
            <a:picLocks noChangeAspect="1"/>
          </p:cNvPicPr>
          <p:nvPr/>
        </p:nvPicPr>
        <p:blipFill>
          <a:blip r:embed="rId5"/>
          <a:stretch>
            <a:fillRect/>
          </a:stretch>
        </p:blipFill>
        <p:spPr>
          <a:xfrm>
            <a:off x="3565246" y="3199486"/>
            <a:ext cx="230429" cy="230429"/>
          </a:xfrm>
          <a:prstGeom prst="rect">
            <a:avLst/>
          </a:prstGeom>
        </p:spPr>
      </p:pic>
      <p:sp>
        <p:nvSpPr>
          <p:cNvPr id="31" name="texto-140"/>
          <p:cNvSpPr txBox="1"/>
          <p:nvPr/>
        </p:nvSpPr>
        <p:spPr>
          <a:xfrm>
            <a:off x="4005072" y="3108960"/>
            <a:ext cx="1783080" cy="411480"/>
          </a:xfrm>
          <a:prstGeom prst="rect">
            <a:avLst/>
          </a:prstGeom>
          <a:noFill/>
          <a:ln/>
        </p:spPr>
        <p:txBody>
          <a:bodyPr wrap="square" lIns="0" tIns="0" rIns="0" bIns="0" rtlCol="0" anchor="ctr"/>
          <a:lstStyle/>
          <a:p>
            <a:pPr indent="0" marL="0">
              <a:buNone/>
            </a:pPr>
            <a:r>
              <a:rPr lang="en-US" sz="1400" b="1" dirty="0">
                <a:solidFill>
                  <a:schemeClr val="tx1"/>
                </a:solidFill>
              </a:rPr>
              <a:t>persistence.py</a:t>
            </a:r>
            <a:endParaRPr lang="en-US" sz="1400" dirty="0"/>
          </a:p>
        </p:txBody>
      </p:sp>
      <p:sp>
        <p:nvSpPr>
          <p:cNvPr id="32" name="texto-141"/>
          <p:cNvSpPr txBox="1"/>
          <p:nvPr/>
        </p:nvSpPr>
        <p:spPr>
          <a:xfrm>
            <a:off x="3474720" y="3611880"/>
            <a:ext cx="2240280" cy="548640"/>
          </a:xfrm>
          <a:prstGeom prst="rect">
            <a:avLst/>
          </a:prstGeom>
          <a:noFill/>
          <a:ln/>
        </p:spPr>
        <p:txBody>
          <a:bodyPr wrap="square" lIns="0" tIns="0" rIns="0" bIns="0" rtlCol="0" anchor="t"/>
          <a:lstStyle/>
          <a:p>
            <a:pPr indent="0" marL="0">
              <a:buNone/>
            </a:pPr>
            <a:r>
              <a:rPr lang="en-US" sz="1400" dirty="0">
                <a:solidFill>
                  <a:schemeClr val="tx1"/>
                </a:solidFill>
              </a:rPr>
              <a:t>CSV de lecturas y reporte JSON</a:t>
            </a:r>
            <a:endParaRPr lang="en-US" sz="1400" dirty="0"/>
          </a:p>
        </p:txBody>
      </p:sp>
      <p:sp>
        <p:nvSpPr>
          <p:cNvPr id="33" name="texto-142"/>
          <p:cNvSpPr txBox="1"/>
          <p:nvPr/>
        </p:nvSpPr>
        <p:spPr>
          <a:xfrm>
            <a:off x="3474720" y="4160520"/>
            <a:ext cx="2240280" cy="228600"/>
          </a:xfrm>
          <a:prstGeom prst="rect">
            <a:avLst/>
          </a:prstGeom>
          <a:noFill/>
          <a:ln/>
        </p:spPr>
        <p:txBody>
          <a:bodyPr wrap="square" lIns="0" tIns="0" rIns="0" bIns="0" rtlCol="0" anchor="ctr"/>
          <a:lstStyle/>
          <a:p>
            <a:pPr indent="0" marL="0">
              <a:buNone/>
            </a:pPr>
            <a:r>
              <a:rPr lang="en-US" sz="1100" b="1" dirty="0">
                <a:solidFill>
                  <a:schemeClr val="accent4"/>
                </a:solidFill>
              </a:rPr>
              <a:t>RF07 · RF08</a:t>
            </a:r>
            <a:endParaRPr lang="en-US" sz="1100" dirty="0"/>
          </a:p>
        </p:txBody>
      </p:sp>
      <p:sp>
        <p:nvSpPr>
          <p:cNvPr id="34" name="tarjeta-143"/>
          <p:cNvSpPr/>
          <p:nvPr/>
        </p:nvSpPr>
        <p:spPr>
          <a:xfrm>
            <a:off x="6126480" y="2926080"/>
            <a:ext cx="2560320" cy="1554480"/>
          </a:xfrm>
          <a:prstGeom prst="roundRect">
            <a:avLst>
              <a:gd name="adj" fmla="val 5882"/>
            </a:avLst>
          </a:prstGeom>
          <a:solidFill>
            <a:schemeClr val="bg2"/>
          </a:solidFill>
          <a:ln/>
        </p:spPr>
      </p:sp>
      <p:sp>
        <p:nvSpPr>
          <p:cNvPr id="35" name="circulo-144"/>
          <p:cNvSpPr/>
          <p:nvPr/>
        </p:nvSpPr>
        <p:spPr>
          <a:xfrm>
            <a:off x="6309360" y="3108960"/>
            <a:ext cx="411480" cy="411480"/>
          </a:xfrm>
          <a:prstGeom prst="ellipse">
            <a:avLst/>
          </a:prstGeom>
          <a:solidFill>
            <a:schemeClr val="accent1"/>
          </a:solidFill>
          <a:ln/>
        </p:spPr>
      </p:sp>
      <p:pic>
        <p:nvPicPr>
          <p:cNvPr id="36" name="icono-145" descr="preencoded.png">    </p:cNvPr>
          <p:cNvPicPr>
            <a:picLocks noChangeAspect="1"/>
          </p:cNvPicPr>
          <p:nvPr/>
        </p:nvPicPr>
        <p:blipFill>
          <a:blip r:embed="rId6"/>
          <a:stretch>
            <a:fillRect/>
          </a:stretch>
        </p:blipFill>
        <p:spPr>
          <a:xfrm>
            <a:off x="6399886" y="3199486"/>
            <a:ext cx="230429" cy="230429"/>
          </a:xfrm>
          <a:prstGeom prst="rect">
            <a:avLst/>
          </a:prstGeom>
        </p:spPr>
      </p:pic>
      <p:sp>
        <p:nvSpPr>
          <p:cNvPr id="37" name="texto-146"/>
          <p:cNvSpPr txBox="1"/>
          <p:nvPr/>
        </p:nvSpPr>
        <p:spPr>
          <a:xfrm>
            <a:off x="6839712" y="3108960"/>
            <a:ext cx="1783080" cy="411480"/>
          </a:xfrm>
          <a:prstGeom prst="rect">
            <a:avLst/>
          </a:prstGeom>
          <a:noFill/>
          <a:ln/>
        </p:spPr>
        <p:txBody>
          <a:bodyPr wrap="square" lIns="0" tIns="0" rIns="0" bIns="0" rtlCol="0" anchor="ctr"/>
          <a:lstStyle/>
          <a:p>
            <a:pPr indent="0" marL="0">
              <a:buNone/>
            </a:pPr>
            <a:r>
              <a:rPr lang="en-US" sz="1400" b="1" dirty="0">
                <a:solidFill>
                  <a:schemeClr val="tx1"/>
                </a:solidFill>
              </a:rPr>
              <a:t>app.py</a:t>
            </a:r>
            <a:endParaRPr lang="en-US" sz="1400" dirty="0"/>
          </a:p>
        </p:txBody>
      </p:sp>
      <p:sp>
        <p:nvSpPr>
          <p:cNvPr id="38" name="texto-147"/>
          <p:cNvSpPr txBox="1"/>
          <p:nvPr/>
        </p:nvSpPr>
        <p:spPr>
          <a:xfrm>
            <a:off x="6309360" y="3611880"/>
            <a:ext cx="2240280" cy="548640"/>
          </a:xfrm>
          <a:prstGeom prst="rect">
            <a:avLst/>
          </a:prstGeom>
          <a:noFill/>
          <a:ln/>
        </p:spPr>
        <p:txBody>
          <a:bodyPr wrap="square" lIns="0" tIns="0" rIns="0" bIns="0" rtlCol="0" anchor="t"/>
          <a:lstStyle/>
          <a:p>
            <a:pPr indent="0" marL="0">
              <a:buNone/>
            </a:pPr>
            <a:r>
              <a:rPr lang="en-US" sz="1400" dirty="0">
                <a:solidFill>
                  <a:schemeClr val="tx1"/>
                </a:solidFill>
              </a:rPr>
              <a:t>Orquesta el ciclo sin caerse ante fallas</a:t>
            </a:r>
            <a:endParaRPr lang="en-US" sz="1400" dirty="0"/>
          </a:p>
        </p:txBody>
      </p:sp>
      <p:sp>
        <p:nvSpPr>
          <p:cNvPr id="39" name="texto-148"/>
          <p:cNvSpPr txBox="1"/>
          <p:nvPr/>
        </p:nvSpPr>
        <p:spPr>
          <a:xfrm>
            <a:off x="6309360" y="4160520"/>
            <a:ext cx="2240280" cy="228600"/>
          </a:xfrm>
          <a:prstGeom prst="rect">
            <a:avLst/>
          </a:prstGeom>
          <a:noFill/>
          <a:ln/>
        </p:spPr>
        <p:txBody>
          <a:bodyPr wrap="square" lIns="0" tIns="0" rIns="0" bIns="0" rtlCol="0" anchor="ctr"/>
          <a:lstStyle/>
          <a:p>
            <a:pPr indent="0" marL="0">
              <a:buNone/>
            </a:pPr>
            <a:r>
              <a:rPr lang="en-US" sz="1100" b="1" dirty="0">
                <a:solidFill>
                  <a:schemeClr val="accent1"/>
                </a:solidFill>
              </a:rPr>
              <a:t>RF05 · RF09 · RF10</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Datos y reporte generados</a:t>
            </a:r>
            <a:endParaRPr lang="en-US" sz="3600" dirty="0"/>
          </a:p>
        </p:txBody>
      </p:sp>
      <p:sp>
        <p:nvSpPr>
          <p:cNvPr id="4" name="tarjeta-149"/>
          <p:cNvSpPr/>
          <p:nvPr/>
        </p:nvSpPr>
        <p:spPr>
          <a:xfrm>
            <a:off x="457200" y="1143000"/>
            <a:ext cx="2560320" cy="1234440"/>
          </a:xfrm>
          <a:prstGeom prst="roundRect">
            <a:avLst>
              <a:gd name="adj" fmla="val 7407"/>
            </a:avLst>
          </a:prstGeom>
          <a:solidFill>
            <a:schemeClr val="bg2"/>
          </a:solidFill>
          <a:ln/>
        </p:spPr>
      </p:sp>
      <p:sp>
        <p:nvSpPr>
          <p:cNvPr id="5" name="texto-150"/>
          <p:cNvSpPr txBox="1"/>
          <p:nvPr/>
        </p:nvSpPr>
        <p:spPr>
          <a:xfrm>
            <a:off x="640080" y="1207008"/>
            <a:ext cx="2194560" cy="640080"/>
          </a:xfrm>
          <a:prstGeom prst="rect">
            <a:avLst/>
          </a:prstGeom>
          <a:noFill/>
          <a:ln/>
        </p:spPr>
        <p:txBody>
          <a:bodyPr wrap="square" lIns="0" tIns="0" rIns="0" bIns="0" rtlCol="0" anchor="ctr"/>
          <a:lstStyle/>
          <a:p>
            <a:pPr indent="0" marL="0">
              <a:buNone/>
            </a:pPr>
            <a:r>
              <a:rPr lang="en-US" sz="3600" b="1" dirty="0">
                <a:solidFill>
                  <a:schemeClr val="accent2"/>
                </a:solidFill>
              </a:rPr>
              <a:t>20</a:t>
            </a:r>
            <a:endParaRPr lang="en-US" sz="3600" dirty="0"/>
          </a:p>
        </p:txBody>
      </p:sp>
      <p:sp>
        <p:nvSpPr>
          <p:cNvPr id="6" name="texto-151"/>
          <p:cNvSpPr txBox="1"/>
          <p:nvPr/>
        </p:nvSpPr>
        <p:spPr>
          <a:xfrm>
            <a:off x="640080" y="1828800"/>
            <a:ext cx="2194560" cy="457200"/>
          </a:xfrm>
          <a:prstGeom prst="rect">
            <a:avLst/>
          </a:prstGeom>
          <a:noFill/>
          <a:ln/>
        </p:spPr>
        <p:txBody>
          <a:bodyPr wrap="square" lIns="0" tIns="0" rIns="0" bIns="0" rtlCol="0" anchor="t"/>
          <a:lstStyle/>
          <a:p>
            <a:pPr indent="0" marL="0">
              <a:buNone/>
            </a:pPr>
            <a:r>
              <a:rPr lang="en-US" sz="1400" dirty="0">
                <a:solidFill>
                  <a:schemeClr val="tx1"/>
                </a:solidFill>
              </a:rPr>
              <a:t>lecturas reales en la corrida base</a:t>
            </a:r>
            <a:endParaRPr lang="en-US" sz="1400" dirty="0"/>
          </a:p>
        </p:txBody>
      </p:sp>
      <p:sp>
        <p:nvSpPr>
          <p:cNvPr id="7" name="tarjeta-152"/>
          <p:cNvSpPr/>
          <p:nvPr/>
        </p:nvSpPr>
        <p:spPr>
          <a:xfrm>
            <a:off x="3291840" y="1143000"/>
            <a:ext cx="2560320" cy="1234440"/>
          </a:xfrm>
          <a:prstGeom prst="roundRect">
            <a:avLst>
              <a:gd name="adj" fmla="val 7407"/>
            </a:avLst>
          </a:prstGeom>
          <a:solidFill>
            <a:schemeClr val="bg2"/>
          </a:solidFill>
          <a:ln/>
        </p:spPr>
      </p:sp>
      <p:sp>
        <p:nvSpPr>
          <p:cNvPr id="8" name="texto-153"/>
          <p:cNvSpPr txBox="1"/>
          <p:nvPr/>
        </p:nvSpPr>
        <p:spPr>
          <a:xfrm>
            <a:off x="3474720" y="1207008"/>
            <a:ext cx="2194560" cy="640080"/>
          </a:xfrm>
          <a:prstGeom prst="rect">
            <a:avLst/>
          </a:prstGeom>
          <a:noFill/>
          <a:ln/>
        </p:spPr>
        <p:txBody>
          <a:bodyPr wrap="square" lIns="0" tIns="0" rIns="0" bIns="0" rtlCol="0" anchor="ctr"/>
          <a:lstStyle/>
          <a:p>
            <a:pPr indent="0" marL="0">
              <a:buNone/>
            </a:pPr>
            <a:r>
              <a:rPr lang="en-US" sz="3600" b="1" dirty="0">
                <a:solidFill>
                  <a:schemeClr val="accent6"/>
                </a:solidFill>
              </a:rPr>
              <a:t>2</a:t>
            </a:r>
            <a:endParaRPr lang="en-US" sz="3600" dirty="0"/>
          </a:p>
        </p:txBody>
      </p:sp>
      <p:sp>
        <p:nvSpPr>
          <p:cNvPr id="9" name="texto-154"/>
          <p:cNvSpPr txBox="1"/>
          <p:nvPr/>
        </p:nvSpPr>
        <p:spPr>
          <a:xfrm>
            <a:off x="3474720" y="1828800"/>
            <a:ext cx="2194560" cy="457200"/>
          </a:xfrm>
          <a:prstGeom prst="rect">
            <a:avLst/>
          </a:prstGeom>
          <a:noFill/>
          <a:ln/>
        </p:spPr>
        <p:txBody>
          <a:bodyPr wrap="square" lIns="0" tIns="0" rIns="0" bIns="0" rtlCol="0" anchor="t"/>
          <a:lstStyle/>
          <a:p>
            <a:pPr indent="0" marL="0">
              <a:buNone/>
            </a:pPr>
            <a:r>
              <a:rPr lang="en-US" sz="1400" dirty="0">
                <a:solidFill>
                  <a:schemeClr val="tx1"/>
                </a:solidFill>
              </a:rPr>
              <a:t>anomalías detectadas (vibración)</a:t>
            </a:r>
            <a:endParaRPr lang="en-US" sz="1400" dirty="0"/>
          </a:p>
        </p:txBody>
      </p:sp>
      <p:sp>
        <p:nvSpPr>
          <p:cNvPr id="10" name="tarjeta-155"/>
          <p:cNvSpPr/>
          <p:nvPr/>
        </p:nvSpPr>
        <p:spPr>
          <a:xfrm>
            <a:off x="6126480" y="1143000"/>
            <a:ext cx="2560320" cy="1234440"/>
          </a:xfrm>
          <a:prstGeom prst="roundRect">
            <a:avLst>
              <a:gd name="adj" fmla="val 7407"/>
            </a:avLst>
          </a:prstGeom>
          <a:solidFill>
            <a:schemeClr val="bg2"/>
          </a:solidFill>
          <a:ln/>
        </p:spPr>
      </p:sp>
      <p:sp>
        <p:nvSpPr>
          <p:cNvPr id="11" name="texto-156"/>
          <p:cNvSpPr txBox="1"/>
          <p:nvPr/>
        </p:nvSpPr>
        <p:spPr>
          <a:xfrm>
            <a:off x="6309360" y="1207008"/>
            <a:ext cx="2194560" cy="640080"/>
          </a:xfrm>
          <a:prstGeom prst="rect">
            <a:avLst/>
          </a:prstGeom>
          <a:noFill/>
          <a:ln/>
        </p:spPr>
        <p:txBody>
          <a:bodyPr wrap="square" lIns="0" tIns="0" rIns="0" bIns="0" rtlCol="0" anchor="ctr"/>
          <a:lstStyle/>
          <a:p>
            <a:pPr indent="0" marL="0">
              <a:buNone/>
            </a:pPr>
            <a:r>
              <a:rPr lang="en-US" sz="3600" b="1" dirty="0">
                <a:solidFill>
                  <a:schemeClr val="accent4"/>
                </a:solidFill>
              </a:rPr>
              <a:t>100 %</a:t>
            </a:r>
            <a:endParaRPr lang="en-US" sz="3600" dirty="0"/>
          </a:p>
        </p:txBody>
      </p:sp>
      <p:sp>
        <p:nvSpPr>
          <p:cNvPr id="12" name="texto-157"/>
          <p:cNvSpPr txBox="1"/>
          <p:nvPr/>
        </p:nvSpPr>
        <p:spPr>
          <a:xfrm>
            <a:off x="6309360" y="1828800"/>
            <a:ext cx="2194560" cy="457200"/>
          </a:xfrm>
          <a:prstGeom prst="rect">
            <a:avLst/>
          </a:prstGeom>
          <a:noFill/>
          <a:ln/>
        </p:spPr>
        <p:txBody>
          <a:bodyPr wrap="square" lIns="0" tIns="0" rIns="0" bIns="0" rtlCol="0" anchor="t"/>
          <a:lstStyle/>
          <a:p>
            <a:pPr indent="0" marL="0">
              <a:buNone/>
            </a:pPr>
            <a:r>
              <a:rPr lang="en-US" sz="1400" dirty="0">
                <a:solidFill>
                  <a:schemeClr val="tx1"/>
                </a:solidFill>
              </a:rPr>
              <a:t>de las lecturas recibidas fueron válidas</a:t>
            </a:r>
            <a:endParaRPr lang="en-US" sz="1400" dirty="0"/>
          </a:p>
        </p:txBody>
      </p:sp>
      <p:graphicFrame>
        <p:nvGraphicFramePr>
          <p:cNvPr id="8" name="tabla-csv-158"/>
          <p:cNvGraphicFramePr>
            <a:graphicFrameLocks noGrp="1"/>
          </p:cNvGraphicFramePr>
          <p:nvPr>
            <p:extLst>
              <p:ext uri="{D42A27DB-BD31-4B8C-83A1-F6EECF244321}">
                <p14:modId xmlns:p14="http://schemas.microsoft.com/office/powerpoint/2010/main" val="1579011935"/>
              </p:ext>
            </p:extLst>
          </p:nvPr>
        </p:nvGraphicFramePr>
        <p:xfrm>
          <a:off x="457200" y="2606040"/>
          <a:ext cx="8229600" cy="914400"/>
        </p:xfrm>
        <a:graphic>
          <a:graphicData uri="http://schemas.openxmlformats.org/drawingml/2006/table">
            <a:tbl>
              <a:tblPr/>
              <a:tblGrid>
                <a:gridCol w="2286000"/>
                <a:gridCol w="1188720"/>
                <a:gridCol w="1097280"/>
                <a:gridCol w="1097280"/>
                <a:gridCol w="1280160"/>
                <a:gridCol w="1280160"/>
              </a:tblGrid>
              <a:tr h="310896">
                <a:tc>
                  <a:txBody>
                    <a:bodyPr/>
                    <a:lstStyle/>
                    <a:p>
                      <a:pPr indent="0" marL="0">
                        <a:buNone/>
                      </a:pPr>
                      <a:r>
                        <a:rPr lang="en-US" sz="1200" b="1" dirty="0">
                          <a:solidFill>
                            <a:schemeClr val="bg1"/>
                          </a:solidFill>
                        </a:rPr>
                        <a:t>timestamp</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device_id</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temp °C</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hum %</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vib mm/s</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estado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r>
              <a:tr h="310896">
                <a:tc>
                  <a:txBody>
                    <a:bodyPr/>
                    <a:lstStyle/>
                    <a:p>
                      <a:pPr indent="0" marL="0">
                        <a:buNone/>
                      </a:pPr>
                      <a:r>
                        <a:rPr lang="en-US" sz="1200" dirty="0">
                          <a:solidFill>
                            <a:schemeClr val="tx1"/>
                          </a:solidFill>
                        </a:rPr>
                        <a:t>2026-10-07T00:50:59Z</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SIM-001</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27.10</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35.59</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1.76</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normal</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accent6"/>
                          </a:solidFill>
                        </a:rPr>
                        <a:t>2026-10-07T00:51:00Z</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rPr>
                        <a:t>SIM-001</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rPr>
                        <a:t>26.45</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rPr>
                        <a:t>39.68</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rPr>
                        <a:t>12.95</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rPr>
                        <a:t>anomalo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rPr>
                        <a:t>2026-10-07T00:51:01Z</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SIM-001</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22.88</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58.86</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1.74</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normal</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r>
            </a:tbl>
          </a:graphicData>
        </a:graphic>
      </p:graphicFrame>
      <p:sp>
        <p:nvSpPr>
          <p:cNvPr id="14" name="texto-159"/>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100" dirty="0">
                <a:solidFill>
                  <a:schemeClr val="tx2"/>
                </a:solidFill>
              </a:rPr>
              <a:t>Fragmento real de data/lecturas.csv. El reporte JSON agrega estas métricas y un snapshot de CPU, memoria y disco del sistema operativo.</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Matriz de pruebas</a:t>
            </a:r>
            <a:endParaRPr lang="en-US" sz="3600" dirty="0"/>
          </a:p>
        </p:txBody>
      </p:sp>
      <p:graphicFrame>
        <p:nvGraphicFramePr>
          <p:cNvPr id="9" name="tabla-matriz-16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3108960"/>
                <a:gridCol w="3566160"/>
                <a:gridCol w="822960"/>
              </a:tblGrid>
              <a:tr h="310896">
                <a:tc>
                  <a:txBody>
                    <a:bodyPr/>
                    <a:lstStyle/>
                    <a:p>
                      <a:pPr indent="0" marL="0">
                        <a:buNone/>
                      </a:pPr>
                      <a:r>
                        <a:rPr lang="en-US" sz="1200" b="1" dirty="0">
                          <a:solidFill>
                            <a:schemeClr val="bg1"/>
                          </a:solidFill>
                        </a:rPr>
                        <a:t>ID</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Prueba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Evidencia automática y real</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Estado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tx2"/>
                    </a:solidFill>
                  </a:tcPr>
                </a:tc>
              </a:tr>
              <a:tr h="310896">
                <a:tc>
                  <a:txBody>
                    <a:bodyPr/>
                    <a:lstStyle/>
                    <a:p>
                      <a:pPr indent="0" marL="0">
                        <a:buNone/>
                      </a:pPr>
                      <a:r>
                        <a:rPr lang="en-US" sz="1200" b="1" dirty="0">
                          <a:solidFill>
                            <a:schemeClr val="tx1"/>
                          </a:solidFill>
                        </a:rPr>
                        <a:t>TP-01</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Lectura válida aceptada y persistida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pytest + 18/20 normales en lecturas.csv</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TP-02</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Campo faltante rechazado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test_falta_un_campo_requerido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r>
              <a:tr h="310896">
                <a:tc>
                  <a:txBody>
                    <a:bodyPr/>
                    <a:lstStyle/>
                    <a:p>
                      <a:pPr indent="0" marL="0">
                        <a:buNone/>
                      </a:pPr>
                      <a:r>
                        <a:rPr lang="en-US" sz="1200" b="1" dirty="0">
                          <a:solidFill>
                            <a:schemeClr val="tx1"/>
                          </a:solidFill>
                        </a:rPr>
                        <a:t>TP-03</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Variable fuera de rango rechazada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pytest + humedad 250 % real rechazada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TP-04</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Clasificación normal / anómalo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 pruebas + 2 anomalías reales</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r>
              <a:tr h="310896">
                <a:tc>
                  <a:txBody>
                    <a:bodyPr/>
                    <a:lstStyle/>
                    <a:p>
                      <a:pPr indent="0" marL="0">
                        <a:buNone/>
                      </a:pPr>
                      <a:r>
                        <a:rPr lang="en-US" sz="1200" b="1" dirty="0">
                          <a:solidFill>
                            <a:schemeClr val="tx1"/>
                          </a:solidFill>
                        </a:rPr>
                        <a:t>TP-05</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Consulta de recursos del SO</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 pruebas + snapshot real en el reporte</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TP-06</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CSV y reporte JSON generados</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 pruebas + archivos reales en data/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r>
              <a:tr h="310896">
                <a:tc>
                  <a:txBody>
                    <a:bodyPr/>
                    <a:lstStyle/>
                    <a:p>
                      <a:pPr indent="0" marL="0">
                        <a:buNone/>
                      </a:pPr>
                      <a:r>
                        <a:rPr lang="en-US" sz="1200" b="1" dirty="0">
                          <a:solidFill>
                            <a:schemeClr val="tx1"/>
                          </a:solidFill>
                        </a:rPr>
                        <a:t>TP-07</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Recuperación tras caída del enlace</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pytest + reconexión real en 3.57 s</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1"/>
                    </a:solidFill>
                  </a:tcPr>
                </a:tc>
              </a:tr>
              <a:tr h="310896">
                <a:tc>
                  <a:txBody>
                    <a:bodyPr/>
                    <a:lstStyle/>
                    <a:p>
                      <a:pPr indent="0" marL="0">
                        <a:buNone/>
                      </a:pPr>
                      <a:r>
                        <a:rPr lang="en-US" sz="1200" b="1" dirty="0">
                          <a:solidFill>
                            <a:schemeClr val="tx1"/>
                          </a:solidFill>
                        </a:rPr>
                        <a:t>TP-08</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 caída ante fallos irrecuperables</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 pruebas + fallos 1 y 3 reales</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4"/>
                          </a:solidFill>
                        </a:rPr>
                        <a:t>Pasa</a:t>
                      </a:r>
                      <a:endParaRPr lang="en-US" sz="1200" dirty="0"/>
                    </a:p>
                  </a:txBody>
                  <a:tcPr marL="91440" marR="91440" marT="45720" marB="45720" anchor="ctr">
                    <a:lnL w="6350" cap="flat" cmpd="sng" algn="ctr">
                      <a:solidFill>
                        <a:srgbClr val="ECEFF1"/>
                      </a:solidFill>
                      <a:prstDash val="solid"/>
                      <a:round/>
                      <a:headEnd type="none" w="med" len="med"/>
                      <a:tailEnd type="none" w="med" len="med"/>
                    </a:lnL>
                    <a:lnR w="6350" cap="flat" cmpd="sng" algn="ctr">
                      <a:solidFill>
                        <a:srgbClr val="ECEFF1"/>
                      </a:solidFill>
                      <a:prstDash val="solid"/>
                      <a:round/>
                      <a:headEnd type="none" w="med" len="med"/>
                      <a:tailEnd type="none" w="med" len="med"/>
                    </a:lnR>
                    <a:lnT w="6350" cap="flat" cmpd="sng" algn="ctr">
                      <a:solidFill>
                        <a:srgbClr val="ECEFF1"/>
                      </a:solidFill>
                      <a:prstDash val="solid"/>
                      <a:round/>
                      <a:headEnd type="none" w="med" len="med"/>
                      <a:tailEnd type="none" w="med" len="med"/>
                    </a:lnT>
                    <a:lnB w="6350" cap="flat" cmpd="sng" algn="ctr">
                      <a:solidFill>
                        <a:srgbClr val="ECEFF1"/>
                      </a:solidFill>
                      <a:prstDash val="solid"/>
                      <a:round/>
                      <a:headEnd type="none" w="med" len="med"/>
                      <a:tailEnd type="none" w="med" len="med"/>
                    </a:lnB>
                    <a:solidFill>
                      <a:schemeClr val="bg2"/>
                    </a:solidFill>
                  </a:tcPr>
                </a:tc>
              </a:tr>
            </a:tbl>
          </a:graphicData>
        </a:graphic>
      </p:graphicFrame>
      <p:sp>
        <p:nvSpPr>
          <p:cNvPr id="5" name="circulo-161"/>
          <p:cNvSpPr/>
          <p:nvPr/>
        </p:nvSpPr>
        <p:spPr>
          <a:xfrm>
            <a:off x="457200" y="4069080"/>
            <a:ext cx="411480" cy="411480"/>
          </a:xfrm>
          <a:prstGeom prst="ellipse">
            <a:avLst/>
          </a:prstGeom>
          <a:solidFill>
            <a:schemeClr val="accent4"/>
          </a:solidFill>
          <a:ln/>
        </p:spPr>
      </p:sp>
      <p:pic>
        <p:nvPicPr>
          <p:cNvPr id="6" name="icono-162" descr="preencoded.png">    </p:cNvPr>
          <p:cNvPicPr>
            <a:picLocks noChangeAspect="1"/>
          </p:cNvPicPr>
          <p:nvPr/>
        </p:nvPicPr>
        <p:blipFill>
          <a:blip r:embed="rId1"/>
          <a:stretch>
            <a:fillRect/>
          </a:stretch>
        </p:blipFill>
        <p:spPr>
          <a:xfrm>
            <a:off x="547726" y="4159606"/>
            <a:ext cx="230429" cy="230429"/>
          </a:xfrm>
          <a:prstGeom prst="rect">
            <a:avLst/>
          </a:prstGeom>
        </p:spPr>
      </p:pic>
      <p:sp>
        <p:nvSpPr>
          <p:cNvPr id="7" name="texto-163"/>
          <p:cNvSpPr txBox="1"/>
          <p:nvPr/>
        </p:nvSpPr>
        <p:spPr>
          <a:xfrm>
            <a:off x="1005840" y="4069080"/>
            <a:ext cx="7680960" cy="411480"/>
          </a:xfrm>
          <a:prstGeom prst="rect">
            <a:avLst/>
          </a:prstGeom>
          <a:noFill/>
          <a:ln/>
        </p:spPr>
        <p:txBody>
          <a:bodyPr wrap="square" lIns="0" tIns="0" rIns="0" bIns="0" rtlCol="0" anchor="ctr"/>
          <a:lstStyle/>
          <a:p>
            <a:pPr indent="0" marL="0">
              <a:buNone/>
            </a:pPr>
            <a:r>
              <a:rPr lang="en-US" sz="1400" dirty="0">
                <a:solidFill>
                  <a:schemeClr val="tx1"/>
                </a:solidFill>
              </a:rPr>
              <a:t>28 de 28 pruebas pytest en verde · detalle completo en docs/Matriz_Pruebas.md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Fallos controlados</a:t>
            </a:r>
            <a:endParaRPr lang="en-US" sz="3600" dirty="0"/>
          </a:p>
        </p:txBody>
      </p:sp>
      <p:sp>
        <p:nvSpPr>
          <p:cNvPr id="4" name="tarjeta-164"/>
          <p:cNvSpPr/>
          <p:nvPr/>
        </p:nvSpPr>
        <p:spPr>
          <a:xfrm>
            <a:off x="457200" y="1143000"/>
            <a:ext cx="2560320" cy="1417320"/>
          </a:xfrm>
          <a:prstGeom prst="roundRect">
            <a:avLst>
              <a:gd name="adj" fmla="val 6452"/>
            </a:avLst>
          </a:prstGeom>
          <a:solidFill>
            <a:schemeClr val="bg2"/>
          </a:solidFill>
          <a:ln/>
        </p:spPr>
      </p:sp>
      <p:sp>
        <p:nvSpPr>
          <p:cNvPr id="5" name="numero-165"/>
          <p:cNvSpPr txBox="1"/>
          <p:nvPr/>
        </p:nvSpPr>
        <p:spPr>
          <a:xfrm>
            <a:off x="640080" y="1325880"/>
            <a:ext cx="411480" cy="411480"/>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o-166"/>
          <p:cNvSpPr txBox="1"/>
          <p:nvPr/>
        </p:nvSpPr>
        <p:spPr>
          <a:xfrm>
            <a:off x="1170432" y="1325880"/>
            <a:ext cx="1737360" cy="411480"/>
          </a:xfrm>
          <a:prstGeom prst="rect">
            <a:avLst/>
          </a:prstGeom>
          <a:noFill/>
          <a:ln/>
        </p:spPr>
        <p:txBody>
          <a:bodyPr wrap="square" lIns="0" tIns="0" rIns="0" bIns="0" rtlCol="0" anchor="ctr"/>
          <a:lstStyle/>
          <a:p>
            <a:pPr indent="0" marL="0">
              <a:buNone/>
            </a:pPr>
            <a:r>
              <a:rPr lang="en-US" sz="1400" b="1" dirty="0">
                <a:solidFill>
                  <a:schemeClr val="tx1"/>
                </a:solidFill>
              </a:rPr>
              <a:t>Fuente detenida</a:t>
            </a:r>
            <a:endParaRPr lang="en-US" sz="1400" dirty="0"/>
          </a:p>
        </p:txBody>
      </p:sp>
      <p:sp>
        <p:nvSpPr>
          <p:cNvPr id="7" name="texto-167"/>
          <p:cNvSpPr txBox="1"/>
          <p:nvPr/>
        </p:nvSpPr>
        <p:spPr>
          <a:xfrm>
            <a:off x="640080" y="1874520"/>
            <a:ext cx="2240280" cy="566928"/>
          </a:xfrm>
          <a:prstGeom prst="rect">
            <a:avLst/>
          </a:prstGeom>
          <a:noFill/>
          <a:ln/>
        </p:spPr>
        <p:txBody>
          <a:bodyPr wrap="square" lIns="0" tIns="0" rIns="0" bIns="0" rtlCol="0" anchor="t"/>
          <a:lstStyle/>
          <a:p>
            <a:pPr indent="0" marL="0">
              <a:buNone/>
            </a:pPr>
            <a:r>
              <a:rPr lang="en-US" sz="1400" dirty="0">
                <a:solidFill>
                  <a:schemeClr val="tx1"/>
                </a:solidFill>
              </a:rPr>
              <a:t>3 intentos fallidos y cierre controlado, sin traceback</a:t>
            </a:r>
            <a:endParaRPr lang="en-US" sz="1400" dirty="0"/>
          </a:p>
        </p:txBody>
      </p:sp>
      <p:sp>
        <p:nvSpPr>
          <p:cNvPr id="8" name="tarjeta-168"/>
          <p:cNvSpPr/>
          <p:nvPr/>
        </p:nvSpPr>
        <p:spPr>
          <a:xfrm>
            <a:off x="3291840" y="1143000"/>
            <a:ext cx="2560320" cy="1417320"/>
          </a:xfrm>
          <a:prstGeom prst="roundRect">
            <a:avLst>
              <a:gd name="adj" fmla="val 6452"/>
            </a:avLst>
          </a:prstGeom>
          <a:solidFill>
            <a:schemeClr val="bg2"/>
          </a:solidFill>
          <a:ln/>
        </p:spPr>
      </p:sp>
      <p:sp>
        <p:nvSpPr>
          <p:cNvPr id="9" name="numero-169"/>
          <p:cNvSpPr txBox="1"/>
          <p:nvPr/>
        </p:nvSpPr>
        <p:spPr>
          <a:xfrm>
            <a:off x="3474720" y="1325880"/>
            <a:ext cx="411480" cy="411480"/>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o-170"/>
          <p:cNvSpPr txBox="1"/>
          <p:nvPr/>
        </p:nvSpPr>
        <p:spPr>
          <a:xfrm>
            <a:off x="4005072" y="1325880"/>
            <a:ext cx="1737360" cy="411480"/>
          </a:xfrm>
          <a:prstGeom prst="rect">
            <a:avLst/>
          </a:prstGeom>
          <a:noFill/>
          <a:ln/>
        </p:spPr>
        <p:txBody>
          <a:bodyPr wrap="square" lIns="0" tIns="0" rIns="0" bIns="0" rtlCol="0" anchor="ctr"/>
          <a:lstStyle/>
          <a:p>
            <a:pPr indent="0" marL="0">
              <a:buNone/>
            </a:pPr>
            <a:r>
              <a:rPr lang="en-US" sz="1400" b="1" dirty="0">
                <a:solidFill>
                  <a:schemeClr val="tx1"/>
                </a:solidFill>
              </a:rPr>
              <a:t>Dato corrupto</a:t>
            </a:r>
            <a:endParaRPr lang="en-US" sz="1400" dirty="0"/>
          </a:p>
        </p:txBody>
      </p:sp>
      <p:sp>
        <p:nvSpPr>
          <p:cNvPr id="11" name="texto-171"/>
          <p:cNvSpPr txBox="1"/>
          <p:nvPr/>
        </p:nvSpPr>
        <p:spPr>
          <a:xfrm>
            <a:off x="3474720" y="1874520"/>
            <a:ext cx="2240280" cy="566928"/>
          </a:xfrm>
          <a:prstGeom prst="rect">
            <a:avLst/>
          </a:prstGeom>
          <a:noFill/>
          <a:ln/>
        </p:spPr>
        <p:txBody>
          <a:bodyPr wrap="square" lIns="0" tIns="0" rIns="0" bIns="0" rtlCol="0" anchor="t"/>
          <a:lstStyle/>
          <a:p>
            <a:pPr indent="0" marL="0">
              <a:buNone/>
            </a:pPr>
            <a:r>
              <a:rPr lang="en-US" sz="1400" dirty="0">
                <a:solidFill>
                  <a:schemeClr val="tx1"/>
                </a:solidFill>
              </a:rPr>
              <a:t>Línea descartada; la conexión sigue leyendo</a:t>
            </a:r>
            <a:endParaRPr lang="en-US" sz="1400" dirty="0"/>
          </a:p>
        </p:txBody>
      </p:sp>
      <p:sp>
        <p:nvSpPr>
          <p:cNvPr id="12" name="tarjeta-172"/>
          <p:cNvSpPr/>
          <p:nvPr/>
        </p:nvSpPr>
        <p:spPr>
          <a:xfrm>
            <a:off x="6126480" y="1143000"/>
            <a:ext cx="2560320" cy="1417320"/>
          </a:xfrm>
          <a:prstGeom prst="roundRect">
            <a:avLst>
              <a:gd name="adj" fmla="val 6452"/>
            </a:avLst>
          </a:prstGeom>
          <a:solidFill>
            <a:schemeClr val="bg2"/>
          </a:solidFill>
          <a:ln/>
        </p:spPr>
      </p:sp>
      <p:sp>
        <p:nvSpPr>
          <p:cNvPr id="13" name="numero-173"/>
          <p:cNvSpPr txBox="1"/>
          <p:nvPr/>
        </p:nvSpPr>
        <p:spPr>
          <a:xfrm>
            <a:off x="6309360" y="1325880"/>
            <a:ext cx="411480" cy="411480"/>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o-174"/>
          <p:cNvSpPr txBox="1"/>
          <p:nvPr/>
        </p:nvSpPr>
        <p:spPr>
          <a:xfrm>
            <a:off x="6839712" y="1325880"/>
            <a:ext cx="1737360" cy="411480"/>
          </a:xfrm>
          <a:prstGeom prst="rect">
            <a:avLst/>
          </a:prstGeom>
          <a:noFill/>
          <a:ln/>
        </p:spPr>
        <p:txBody>
          <a:bodyPr wrap="square" lIns="0" tIns="0" rIns="0" bIns="0" rtlCol="0" anchor="ctr"/>
          <a:lstStyle/>
          <a:p>
            <a:pPr indent="0" marL="0">
              <a:buNone/>
            </a:pPr>
            <a:r>
              <a:rPr lang="en-US" sz="1400" b="1" dirty="0">
                <a:solidFill>
                  <a:schemeClr val="tx1"/>
                </a:solidFill>
              </a:rPr>
              <a:t>Ruta sin permisos</a:t>
            </a:r>
            <a:endParaRPr lang="en-US" sz="1400" dirty="0"/>
          </a:p>
        </p:txBody>
      </p:sp>
      <p:sp>
        <p:nvSpPr>
          <p:cNvPr id="15" name="texto-175"/>
          <p:cNvSpPr txBox="1"/>
          <p:nvPr/>
        </p:nvSpPr>
        <p:spPr>
          <a:xfrm>
            <a:off x="6309360" y="1874520"/>
            <a:ext cx="2240280" cy="566928"/>
          </a:xfrm>
          <a:prstGeom prst="rect">
            <a:avLst/>
          </a:prstGeom>
          <a:noFill/>
          <a:ln/>
        </p:spPr>
        <p:txBody>
          <a:bodyPr wrap="square" lIns="0" tIns="0" rIns="0" bIns="0" rtlCol="0" anchor="t"/>
          <a:lstStyle/>
          <a:p>
            <a:pPr indent="0" marL="0">
              <a:buNone/>
            </a:pPr>
            <a:r>
              <a:rPr lang="en-US" sz="1400" dirty="0">
                <a:solidFill>
                  <a:schemeClr val="tx1"/>
                </a:solidFill>
              </a:rPr>
              <a:t>OSError contado; la app sigue corriendo</a:t>
            </a:r>
            <a:endParaRPr lang="en-US" sz="1400" dirty="0"/>
          </a:p>
        </p:txBody>
      </p:sp>
      <p:sp>
        <p:nvSpPr>
          <p:cNvPr id="16" name="tarjeta-176"/>
          <p:cNvSpPr/>
          <p:nvPr/>
        </p:nvSpPr>
        <p:spPr>
          <a:xfrm>
            <a:off x="457200" y="2788920"/>
            <a:ext cx="2560320" cy="1417320"/>
          </a:xfrm>
          <a:prstGeom prst="roundRect">
            <a:avLst>
              <a:gd name="adj" fmla="val 6452"/>
            </a:avLst>
          </a:prstGeom>
          <a:solidFill>
            <a:schemeClr val="bg2"/>
          </a:solidFill>
          <a:ln/>
        </p:spPr>
      </p:sp>
      <p:sp>
        <p:nvSpPr>
          <p:cNvPr id="17" name="numero-177"/>
          <p:cNvSpPr txBox="1"/>
          <p:nvPr/>
        </p:nvSpPr>
        <p:spPr>
          <a:xfrm>
            <a:off x="640080" y="2971800"/>
            <a:ext cx="411480" cy="411480"/>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o-178"/>
          <p:cNvSpPr txBox="1"/>
          <p:nvPr/>
        </p:nvSpPr>
        <p:spPr>
          <a:xfrm>
            <a:off x="1170432" y="2971800"/>
            <a:ext cx="1737360" cy="411480"/>
          </a:xfrm>
          <a:prstGeom prst="rect">
            <a:avLst/>
          </a:prstGeom>
          <a:noFill/>
          <a:ln/>
        </p:spPr>
        <p:txBody>
          <a:bodyPr wrap="square" lIns="0" tIns="0" rIns="0" bIns="0" rtlCol="0" anchor="ctr"/>
          <a:lstStyle/>
          <a:p>
            <a:pPr indent="0" marL="0">
              <a:buNone/>
            </a:pPr>
            <a:r>
              <a:rPr lang="en-US" sz="1400" b="1" dirty="0">
                <a:solidFill>
                  <a:schemeClr val="tx1"/>
                </a:solidFill>
              </a:rPr>
              <a:t>Fuera de rango</a:t>
            </a:r>
            <a:endParaRPr lang="en-US" sz="1400" dirty="0"/>
          </a:p>
        </p:txBody>
      </p:sp>
      <p:sp>
        <p:nvSpPr>
          <p:cNvPr id="19" name="texto-179"/>
          <p:cNvSpPr txBox="1"/>
          <p:nvPr/>
        </p:nvSpPr>
        <p:spPr>
          <a:xfrm>
            <a:off x="640080" y="3520440"/>
            <a:ext cx="2240280" cy="566928"/>
          </a:xfrm>
          <a:prstGeom prst="rect">
            <a:avLst/>
          </a:prstGeom>
          <a:noFill/>
          <a:ln/>
        </p:spPr>
        <p:txBody>
          <a:bodyPr wrap="square" lIns="0" tIns="0" rIns="0" bIns="0" rtlCol="0" anchor="t"/>
          <a:lstStyle/>
          <a:p>
            <a:pPr indent="0" marL="0">
              <a:buNone/>
            </a:pPr>
            <a:r>
              <a:rPr lang="en-US" sz="1400" dirty="0">
                <a:solidFill>
                  <a:schemeClr val="tx1"/>
                </a:solidFill>
              </a:rPr>
              <a:t>Humedad de 250 % rechazada por validación</a:t>
            </a:r>
            <a:endParaRPr lang="en-US" sz="1400" dirty="0"/>
          </a:p>
        </p:txBody>
      </p:sp>
      <p:sp>
        <p:nvSpPr>
          <p:cNvPr id="20" name="tarjeta-180"/>
          <p:cNvSpPr/>
          <p:nvPr/>
        </p:nvSpPr>
        <p:spPr>
          <a:xfrm>
            <a:off x="3291840" y="2788920"/>
            <a:ext cx="2560320" cy="1417320"/>
          </a:xfrm>
          <a:prstGeom prst="roundRect">
            <a:avLst>
              <a:gd name="adj" fmla="val 6452"/>
            </a:avLst>
          </a:prstGeom>
          <a:solidFill>
            <a:schemeClr val="bg2"/>
          </a:solidFill>
          <a:ln/>
        </p:spPr>
      </p:sp>
      <p:sp>
        <p:nvSpPr>
          <p:cNvPr id="21" name="numero-181"/>
          <p:cNvSpPr txBox="1"/>
          <p:nvPr/>
        </p:nvSpPr>
        <p:spPr>
          <a:xfrm>
            <a:off x="3474720" y="2971800"/>
            <a:ext cx="411480" cy="411480"/>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o-182"/>
          <p:cNvSpPr txBox="1"/>
          <p:nvPr/>
        </p:nvSpPr>
        <p:spPr>
          <a:xfrm>
            <a:off x="4005072" y="2971800"/>
            <a:ext cx="1737360" cy="411480"/>
          </a:xfrm>
          <a:prstGeom prst="rect">
            <a:avLst/>
          </a:prstGeom>
          <a:noFill/>
          <a:ln/>
        </p:spPr>
        <p:txBody>
          <a:bodyPr wrap="square" lIns="0" tIns="0" rIns="0" bIns="0" rtlCol="0" anchor="ctr"/>
          <a:lstStyle/>
          <a:p>
            <a:pPr indent="0" marL="0">
              <a:buNone/>
            </a:pPr>
            <a:r>
              <a:rPr lang="en-US" sz="1400" b="1" dirty="0">
                <a:solidFill>
                  <a:schemeClr val="tx1"/>
                </a:solidFill>
              </a:rPr>
              <a:t>CPU saturada</a:t>
            </a:r>
            <a:endParaRPr lang="en-US" sz="1400" dirty="0"/>
          </a:p>
        </p:txBody>
      </p:sp>
      <p:sp>
        <p:nvSpPr>
          <p:cNvPr id="23" name="texto-183"/>
          <p:cNvSpPr txBox="1"/>
          <p:nvPr/>
        </p:nvSpPr>
        <p:spPr>
          <a:xfrm>
            <a:off x="3474720" y="3520440"/>
            <a:ext cx="2240280" cy="566928"/>
          </a:xfrm>
          <a:prstGeom prst="rect">
            <a:avLst/>
          </a:prstGeom>
          <a:noFill/>
          <a:ln/>
        </p:spPr>
        <p:txBody>
          <a:bodyPr wrap="square" lIns="0" tIns="0" rIns="0" bIns="0" rtlCol="0" anchor="t"/>
          <a:lstStyle/>
          <a:p>
            <a:pPr indent="0" marL="0">
              <a:buNone/>
            </a:pPr>
            <a:r>
              <a:rPr lang="en-US" sz="1400" dirty="0">
                <a:solidFill>
                  <a:schemeClr val="tx1"/>
                </a:solidFill>
              </a:rPr>
              <a:t>25 % → 93.9 %; el SO sigue respondiendo</a:t>
            </a:r>
            <a:endParaRPr lang="en-US" sz="1400" dirty="0"/>
          </a:p>
        </p:txBody>
      </p:sp>
      <p:sp>
        <p:nvSpPr>
          <p:cNvPr id="24" name="tarjeta-184"/>
          <p:cNvSpPr/>
          <p:nvPr/>
        </p:nvSpPr>
        <p:spPr>
          <a:xfrm>
            <a:off x="6126480" y="2788920"/>
            <a:ext cx="2560320" cy="1417320"/>
          </a:xfrm>
          <a:prstGeom prst="roundRect">
            <a:avLst>
              <a:gd name="adj" fmla="val 6452"/>
            </a:avLst>
          </a:prstGeom>
          <a:solidFill>
            <a:schemeClr val="accent4"/>
          </a:solidFill>
          <a:ln/>
        </p:spPr>
      </p:sp>
      <p:sp>
        <p:nvSpPr>
          <p:cNvPr id="25" name="numero-185"/>
          <p:cNvSpPr txBox="1"/>
          <p:nvPr/>
        </p:nvSpPr>
        <p:spPr>
          <a:xfrm>
            <a:off x="6309360" y="2971800"/>
            <a:ext cx="411480" cy="411480"/>
          </a:xfrm>
          <a:prstGeom prst="ellipse">
            <a:avLst/>
          </a:prstGeom>
          <a:solidFill>
            <a:schemeClr val="bg1"/>
          </a:solidFill>
          <a:ln/>
        </p:spPr>
        <p:txBody>
          <a:bodyPr wrap="square" lIns="0" tIns="0" rIns="0" bIns="0" rtlCol="0" anchor="ctr"/>
          <a:lstStyle/>
          <a:p>
            <a:pPr algn="ctr" indent="0" marL="0">
              <a:buNone/>
            </a:pPr>
            <a:r>
              <a:rPr lang="en-US" sz="1400" b="1" dirty="0">
                <a:solidFill>
                  <a:schemeClr val="accent4"/>
                </a:solidFill>
              </a:rPr>
              <a:t>6</a:t>
            </a:r>
            <a:endParaRPr lang="en-US" sz="1400" dirty="0"/>
          </a:p>
        </p:txBody>
      </p:sp>
      <p:sp>
        <p:nvSpPr>
          <p:cNvPr id="26" name="texto-186"/>
          <p:cNvSpPr txBox="1"/>
          <p:nvPr/>
        </p:nvSpPr>
        <p:spPr>
          <a:xfrm>
            <a:off x="6839712" y="2971800"/>
            <a:ext cx="1737360" cy="411480"/>
          </a:xfrm>
          <a:prstGeom prst="rect">
            <a:avLst/>
          </a:prstGeom>
          <a:noFill/>
          <a:ln/>
        </p:spPr>
        <p:txBody>
          <a:bodyPr wrap="square" lIns="0" tIns="0" rIns="0" bIns="0" rtlCol="0" anchor="ctr"/>
          <a:lstStyle/>
          <a:p>
            <a:pPr indent="0" marL="0">
              <a:buNone/>
            </a:pPr>
            <a:r>
              <a:rPr lang="en-US" sz="1400" b="1" dirty="0">
                <a:solidFill>
                  <a:schemeClr val="bg1"/>
                </a:solidFill>
              </a:rPr>
              <a:t>Red interrumpida</a:t>
            </a:r>
            <a:endParaRPr lang="en-US" sz="1400" dirty="0"/>
          </a:p>
        </p:txBody>
      </p:sp>
      <p:sp>
        <p:nvSpPr>
          <p:cNvPr id="27" name="texto-187"/>
          <p:cNvSpPr txBox="1"/>
          <p:nvPr/>
        </p:nvSpPr>
        <p:spPr>
          <a:xfrm>
            <a:off x="6309360" y="3520440"/>
            <a:ext cx="2240280" cy="566928"/>
          </a:xfrm>
          <a:prstGeom prst="rect">
            <a:avLst/>
          </a:prstGeom>
          <a:noFill/>
          <a:ln/>
        </p:spPr>
        <p:txBody>
          <a:bodyPr wrap="square" lIns="0" tIns="0" rIns="0" bIns="0" rtlCol="0" anchor="t"/>
          <a:lstStyle/>
          <a:p>
            <a:pPr indent="0" marL="0">
              <a:buNone/>
            </a:pPr>
            <a:r>
              <a:rPr lang="en-US" sz="1400" dirty="0">
                <a:solidFill>
                  <a:schemeClr val="bg1"/>
                </a:solidFill>
              </a:rPr>
              <a:t>Reconexión en 3.57 s; 40 de 40 lecturas</a:t>
            </a:r>
            <a:endParaRPr lang="en-US" sz="1400" dirty="0"/>
          </a:p>
        </p:txBody>
      </p:sp>
      <p:sp>
        <p:nvSpPr>
          <p:cNvPr id="28" name="texto-188"/>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dirty="0">
                <a:solidFill>
                  <a:schemeClr val="tx2"/>
                </a:solidFill>
              </a:rPr>
              <a:t>Salida de consola real de cada corrida en docs/Fallos_Controlados.md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Indicadores técnicos</a:t>
            </a:r>
            <a:endParaRPr lang="en-US" sz="3600" dirty="0"/>
          </a:p>
        </p:txBody>
      </p:sp>
      <p:sp>
        <p:nvSpPr>
          <p:cNvPr id="4" name="tarjeta-189"/>
          <p:cNvSpPr/>
          <p:nvPr/>
        </p:nvSpPr>
        <p:spPr>
          <a:xfrm>
            <a:off x="457200" y="1097280"/>
            <a:ext cx="3977640" cy="1325880"/>
          </a:xfrm>
          <a:prstGeom prst="roundRect">
            <a:avLst>
              <a:gd name="adj" fmla="val 6897"/>
            </a:avLst>
          </a:prstGeom>
          <a:solidFill>
            <a:schemeClr val="bg2"/>
          </a:solidFill>
          <a:ln/>
        </p:spPr>
      </p:sp>
      <p:sp>
        <p:nvSpPr>
          <p:cNvPr id="5" name="texto-190"/>
          <p:cNvSpPr txBox="1"/>
          <p:nvPr/>
        </p:nvSpPr>
        <p:spPr>
          <a:xfrm>
            <a:off x="685800" y="1097280"/>
            <a:ext cx="1691640" cy="1325880"/>
          </a:xfrm>
          <a:prstGeom prst="rect">
            <a:avLst/>
          </a:prstGeom>
          <a:noFill/>
          <a:ln/>
        </p:spPr>
        <p:txBody>
          <a:bodyPr wrap="square" lIns="0" tIns="0" rIns="0" bIns="0" rtlCol="0" anchor="ctr"/>
          <a:lstStyle/>
          <a:p>
            <a:pPr indent="0" marL="0">
              <a:buNone/>
            </a:pPr>
            <a:r>
              <a:rPr lang="en-US" sz="3200" b="1" dirty="0">
                <a:solidFill>
                  <a:schemeClr val="accent2"/>
                </a:solidFill>
              </a:rPr>
              <a:t>97.6 %</a:t>
            </a:r>
            <a:endParaRPr lang="en-US" sz="3200" dirty="0"/>
          </a:p>
        </p:txBody>
      </p:sp>
      <p:sp>
        <p:nvSpPr>
          <p:cNvPr id="6" name="texto-191"/>
          <p:cNvSpPr txBox="1"/>
          <p:nvPr/>
        </p:nvSpPr>
        <p:spPr>
          <a:xfrm>
            <a:off x="2423160" y="1280160"/>
            <a:ext cx="1920240" cy="960120"/>
          </a:xfrm>
          <a:prstGeom prst="rect">
            <a:avLst/>
          </a:prstGeom>
          <a:noFill/>
          <a:ln/>
        </p:spPr>
        <p:txBody>
          <a:bodyPr wrap="square" lIns="0" tIns="0" rIns="0" bIns="0" rtlCol="0" anchor="ctr"/>
          <a:lstStyle/>
          <a:p>
            <a:pPr indent="0" marL="0">
              <a:buNone/>
            </a:pPr>
            <a:r>
              <a:rPr lang="en-US" sz="1600" b="1" dirty="0">
                <a:solidFill>
                  <a:schemeClr val="tx1"/>
                </a:solidFill>
              </a:rPr>
              <a:t>Disponibilidad</a:t>
            </a:r>
            <a:endParaRPr lang="en-US" sz="1600" dirty="0"/>
          </a:p>
          <a:p>
            <a:pPr indent="0" marL="0">
              <a:buNone/>
            </a:pPr>
            <a:r>
              <a:rPr lang="en-US" sz="1200" dirty="0">
                <a:solidFill>
                  <a:schemeClr val="tx1"/>
                </a:solidFill>
              </a:rPr>
              <a:t>meta ≥ 95 % · 40/41 intentos</a:t>
            </a:r>
            <a:endParaRPr lang="en-US" sz="1600" dirty="0"/>
          </a:p>
        </p:txBody>
      </p:sp>
      <p:sp>
        <p:nvSpPr>
          <p:cNvPr id="7" name="tarjeta-192"/>
          <p:cNvSpPr/>
          <p:nvPr/>
        </p:nvSpPr>
        <p:spPr>
          <a:xfrm>
            <a:off x="4709160" y="1097280"/>
            <a:ext cx="3977640" cy="1325880"/>
          </a:xfrm>
          <a:prstGeom prst="roundRect">
            <a:avLst>
              <a:gd name="adj" fmla="val 6897"/>
            </a:avLst>
          </a:prstGeom>
          <a:solidFill>
            <a:schemeClr val="bg2"/>
          </a:solidFill>
          <a:ln/>
        </p:spPr>
      </p:sp>
      <p:sp>
        <p:nvSpPr>
          <p:cNvPr id="8" name="texto-193"/>
          <p:cNvSpPr txBox="1"/>
          <p:nvPr/>
        </p:nvSpPr>
        <p:spPr>
          <a:xfrm>
            <a:off x="4937760" y="1097280"/>
            <a:ext cx="1691640" cy="1325880"/>
          </a:xfrm>
          <a:prstGeom prst="rect">
            <a:avLst/>
          </a:prstGeom>
          <a:noFill/>
          <a:ln/>
        </p:spPr>
        <p:txBody>
          <a:bodyPr wrap="square" lIns="0" tIns="0" rIns="0" bIns="0" rtlCol="0" anchor="ctr"/>
          <a:lstStyle/>
          <a:p>
            <a:pPr indent="0" marL="0">
              <a:buNone/>
            </a:pPr>
            <a:r>
              <a:rPr lang="en-US" sz="3200" b="1" dirty="0">
                <a:solidFill>
                  <a:schemeClr val="accent3"/>
                </a:solidFill>
              </a:rPr>
              <a:t>0.25 ms</a:t>
            </a:r>
            <a:endParaRPr lang="en-US" sz="3200" dirty="0"/>
          </a:p>
        </p:txBody>
      </p:sp>
      <p:sp>
        <p:nvSpPr>
          <p:cNvPr id="9" name="texto-194"/>
          <p:cNvSpPr txBox="1"/>
          <p:nvPr/>
        </p:nvSpPr>
        <p:spPr>
          <a:xfrm>
            <a:off x="6675120" y="1280160"/>
            <a:ext cx="1920240" cy="960120"/>
          </a:xfrm>
          <a:prstGeom prst="rect">
            <a:avLst/>
          </a:prstGeom>
          <a:noFill/>
          <a:ln/>
        </p:spPr>
        <p:txBody>
          <a:bodyPr wrap="square" lIns="0" tIns="0" rIns="0" bIns="0" rtlCol="0" anchor="ctr"/>
          <a:lstStyle/>
          <a:p>
            <a:pPr indent="0" marL="0">
              <a:buNone/>
            </a:pPr>
            <a:r>
              <a:rPr lang="en-US" sz="1600" b="1" dirty="0">
                <a:solidFill>
                  <a:schemeClr val="tx1"/>
                </a:solidFill>
              </a:rPr>
              <a:t>Latencia promedio</a:t>
            </a:r>
            <a:endParaRPr lang="en-US" sz="1600" dirty="0"/>
          </a:p>
          <a:p>
            <a:pPr indent="0" marL="0">
              <a:buNone/>
            </a:pPr>
            <a:r>
              <a:rPr lang="en-US" sz="1200" dirty="0">
                <a:solidFill>
                  <a:schemeClr val="tx1"/>
                </a:solidFill>
              </a:rPr>
              <a:t>máx. 0.375 ms · loopback</a:t>
            </a:r>
            <a:endParaRPr lang="en-US" sz="1600" dirty="0"/>
          </a:p>
        </p:txBody>
      </p:sp>
      <p:sp>
        <p:nvSpPr>
          <p:cNvPr id="10" name="tarjeta-195"/>
          <p:cNvSpPr/>
          <p:nvPr/>
        </p:nvSpPr>
        <p:spPr>
          <a:xfrm>
            <a:off x="457200" y="2606040"/>
            <a:ext cx="3977640" cy="1325880"/>
          </a:xfrm>
          <a:prstGeom prst="roundRect">
            <a:avLst>
              <a:gd name="adj" fmla="val 6897"/>
            </a:avLst>
          </a:prstGeom>
          <a:solidFill>
            <a:schemeClr val="bg2"/>
          </a:solidFill>
          <a:ln/>
        </p:spPr>
      </p:sp>
      <p:sp>
        <p:nvSpPr>
          <p:cNvPr id="11" name="texto-196"/>
          <p:cNvSpPr txBox="1"/>
          <p:nvPr/>
        </p:nvSpPr>
        <p:spPr>
          <a:xfrm>
            <a:off x="685800" y="2606040"/>
            <a:ext cx="1691640" cy="1325880"/>
          </a:xfrm>
          <a:prstGeom prst="rect">
            <a:avLst/>
          </a:prstGeom>
          <a:noFill/>
          <a:ln/>
        </p:spPr>
        <p:txBody>
          <a:bodyPr wrap="square" lIns="0" tIns="0" rIns="0" bIns="0" rtlCol="0" anchor="ctr"/>
          <a:lstStyle/>
          <a:p>
            <a:pPr indent="0" marL="0">
              <a:buNone/>
            </a:pPr>
            <a:r>
              <a:rPr lang="en-US" sz="3200" b="1" dirty="0">
                <a:solidFill>
                  <a:schemeClr val="accent4"/>
                </a:solidFill>
              </a:rPr>
              <a:t>98.4 %</a:t>
            </a:r>
            <a:endParaRPr lang="en-US" sz="3200" dirty="0"/>
          </a:p>
        </p:txBody>
      </p:sp>
      <p:sp>
        <p:nvSpPr>
          <p:cNvPr id="12" name="texto-197"/>
          <p:cNvSpPr txBox="1"/>
          <p:nvPr/>
        </p:nvSpPr>
        <p:spPr>
          <a:xfrm>
            <a:off x="2423160" y="2788920"/>
            <a:ext cx="1920240" cy="960120"/>
          </a:xfrm>
          <a:prstGeom prst="rect">
            <a:avLst/>
          </a:prstGeom>
          <a:noFill/>
          <a:ln/>
        </p:spPr>
        <p:txBody>
          <a:bodyPr wrap="square" lIns="0" tIns="0" rIns="0" bIns="0" rtlCol="0" anchor="ctr"/>
          <a:lstStyle/>
          <a:p>
            <a:pPr indent="0" marL="0">
              <a:buNone/>
            </a:pPr>
            <a:r>
              <a:rPr lang="en-US" sz="1600" b="1" dirty="0">
                <a:solidFill>
                  <a:schemeClr val="tx1"/>
                </a:solidFill>
              </a:rPr>
              <a:t>Datos válidos</a:t>
            </a:r>
            <a:endParaRPr lang="en-US" sz="1600" dirty="0"/>
          </a:p>
          <a:p>
            <a:pPr indent="0" marL="0">
              <a:buNone/>
            </a:pPr>
            <a:r>
              <a:rPr lang="en-US" sz="1200" dirty="0">
                <a:solidFill>
                  <a:schemeClr val="tx1"/>
                </a:solidFill>
              </a:rPr>
              <a:t>meta ≥ 98 % · 63/64 lecturas</a:t>
            </a:r>
            <a:endParaRPr lang="en-US" sz="1600" dirty="0"/>
          </a:p>
        </p:txBody>
      </p:sp>
      <p:sp>
        <p:nvSpPr>
          <p:cNvPr id="13" name="tarjeta-198"/>
          <p:cNvSpPr/>
          <p:nvPr/>
        </p:nvSpPr>
        <p:spPr>
          <a:xfrm>
            <a:off x="4709160" y="2606040"/>
            <a:ext cx="3977640" cy="1325880"/>
          </a:xfrm>
          <a:prstGeom prst="roundRect">
            <a:avLst>
              <a:gd name="adj" fmla="val 6897"/>
            </a:avLst>
          </a:prstGeom>
          <a:solidFill>
            <a:schemeClr val="bg2"/>
          </a:solidFill>
          <a:ln/>
        </p:spPr>
      </p:sp>
      <p:sp>
        <p:nvSpPr>
          <p:cNvPr id="14" name="texto-199"/>
          <p:cNvSpPr txBox="1"/>
          <p:nvPr/>
        </p:nvSpPr>
        <p:spPr>
          <a:xfrm>
            <a:off x="4937760" y="2606040"/>
            <a:ext cx="1691640" cy="1325880"/>
          </a:xfrm>
          <a:prstGeom prst="rect">
            <a:avLst/>
          </a:prstGeom>
          <a:noFill/>
          <a:ln/>
        </p:spPr>
        <p:txBody>
          <a:bodyPr wrap="square" lIns="0" tIns="0" rIns="0" bIns="0" rtlCol="0" anchor="ctr"/>
          <a:lstStyle/>
          <a:p>
            <a:pPr indent="0" marL="0">
              <a:buNone/>
            </a:pPr>
            <a:r>
              <a:rPr lang="en-US" sz="3200" b="1" dirty="0">
                <a:solidFill>
                  <a:schemeClr val="accent1"/>
                </a:solidFill>
              </a:rPr>
              <a:t>3.57 s</a:t>
            </a:r>
            <a:endParaRPr lang="en-US" sz="3200" dirty="0"/>
          </a:p>
        </p:txBody>
      </p:sp>
      <p:sp>
        <p:nvSpPr>
          <p:cNvPr id="15" name="texto-200"/>
          <p:cNvSpPr txBox="1"/>
          <p:nvPr/>
        </p:nvSpPr>
        <p:spPr>
          <a:xfrm>
            <a:off x="6675120" y="2788920"/>
            <a:ext cx="1920240" cy="960120"/>
          </a:xfrm>
          <a:prstGeom prst="rect">
            <a:avLst/>
          </a:prstGeom>
          <a:noFill/>
          <a:ln/>
        </p:spPr>
        <p:txBody>
          <a:bodyPr wrap="square" lIns="0" tIns="0" rIns="0" bIns="0" rtlCol="0" anchor="ctr"/>
          <a:lstStyle/>
          <a:p>
            <a:pPr indent="0" marL="0">
              <a:buNone/>
            </a:pPr>
            <a:r>
              <a:rPr lang="en-US" sz="1600" b="1" dirty="0">
                <a:solidFill>
                  <a:schemeClr val="tx1"/>
                </a:solidFill>
              </a:rPr>
              <a:t>Recuperación</a:t>
            </a:r>
            <a:endParaRPr lang="en-US" sz="1600" dirty="0"/>
          </a:p>
          <a:p>
            <a:pPr indent="0" marL="0">
              <a:buNone/>
            </a:pPr>
            <a:r>
              <a:rPr lang="en-US" sz="1200" dirty="0">
                <a:solidFill>
                  <a:schemeClr val="tx1"/>
                </a:solidFill>
              </a:rPr>
              <a:t>tras una caída real (fallo 6)</a:t>
            </a:r>
            <a:endParaRPr lang="en-US" sz="1600" dirty="0"/>
          </a:p>
        </p:txBody>
      </p:sp>
      <p:sp>
        <p:nvSpPr>
          <p:cNvPr id="16" name="tarjeta-201"/>
          <p:cNvSpPr/>
          <p:nvPr/>
        </p:nvSpPr>
        <p:spPr>
          <a:xfrm>
            <a:off x="457200" y="4114800"/>
            <a:ext cx="8229600" cy="502920"/>
          </a:xfrm>
          <a:prstGeom prst="roundRect">
            <a:avLst>
              <a:gd name="adj" fmla="val 18182"/>
            </a:avLst>
          </a:prstGeom>
          <a:solidFill>
            <a:schemeClr val="bg2"/>
          </a:solidFill>
          <a:ln/>
        </p:spPr>
      </p:sp>
      <p:sp>
        <p:nvSpPr>
          <p:cNvPr id="17" name="circulo-202"/>
          <p:cNvSpPr/>
          <p:nvPr/>
        </p:nvSpPr>
        <p:spPr>
          <a:xfrm>
            <a:off x="594360" y="4178808"/>
            <a:ext cx="365760" cy="365760"/>
          </a:xfrm>
          <a:prstGeom prst="ellipse">
            <a:avLst/>
          </a:prstGeom>
          <a:solidFill>
            <a:schemeClr val="accent6"/>
          </a:solidFill>
          <a:ln/>
        </p:spPr>
      </p:sp>
      <p:pic>
        <p:nvPicPr>
          <p:cNvPr id="18" name="icono-203" descr="preencoded.png">    </p:cNvPr>
          <p:cNvPicPr>
            <a:picLocks noChangeAspect="1"/>
          </p:cNvPicPr>
          <p:nvPr/>
        </p:nvPicPr>
        <p:blipFill>
          <a:blip r:embed="rId1"/>
          <a:stretch>
            <a:fillRect/>
          </a:stretch>
        </p:blipFill>
        <p:spPr>
          <a:xfrm>
            <a:off x="674827" y="4259275"/>
            <a:ext cx="204826" cy="204826"/>
          </a:xfrm>
          <a:prstGeom prst="rect">
            <a:avLst/>
          </a:prstGeom>
        </p:spPr>
      </p:pic>
      <p:sp>
        <p:nvSpPr>
          <p:cNvPr id="19" name="texto-204"/>
          <p:cNvSpPr txBox="1"/>
          <p:nvPr/>
        </p:nvSpPr>
        <p:spPr>
          <a:xfrm>
            <a:off x="1097280" y="4114800"/>
            <a:ext cx="7498080" cy="502920"/>
          </a:xfrm>
          <a:prstGeom prst="rect">
            <a:avLst/>
          </a:prstGeom>
          <a:noFill/>
          <a:ln/>
        </p:spPr>
        <p:txBody>
          <a:bodyPr wrap="square" lIns="0" tIns="0" rIns="0" bIns="0" rtlCol="0" anchor="ctr"/>
          <a:lstStyle/>
          <a:p>
            <a:pPr indent="0" marL="0">
              <a:buNone/>
            </a:pPr>
            <a:r>
              <a:rPr lang="en-US" sz="1200" dirty="0">
                <a:solidFill>
                  <a:schemeClr val="tx1"/>
                </a:solidFill>
              </a:rPr>
              <a:t>Tasa de errores: 6.1 % agregada, porque incluye corridas con fallos inyectados a propósito; en operación normal fue 0 %.</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Preguntas de integración (1/2)</a:t>
            </a:r>
            <a:endParaRPr lang="en-US" sz="3600" dirty="0"/>
          </a:p>
        </p:txBody>
      </p:sp>
      <p:sp>
        <p:nvSpPr>
          <p:cNvPr id="4" name="tarjeta-205"/>
          <p:cNvSpPr/>
          <p:nvPr/>
        </p:nvSpPr>
        <p:spPr>
          <a:xfrm>
            <a:off x="457200" y="1097280"/>
            <a:ext cx="3977640" cy="1005840"/>
          </a:xfrm>
          <a:prstGeom prst="roundRect">
            <a:avLst>
              <a:gd name="adj" fmla="val 9091"/>
            </a:avLst>
          </a:prstGeom>
          <a:solidFill>
            <a:schemeClr val="bg2"/>
          </a:solidFill>
          <a:ln/>
        </p:spPr>
      </p:sp>
      <p:sp>
        <p:nvSpPr>
          <p:cNvPr id="5" name="numero-206"/>
          <p:cNvSpPr txBox="1"/>
          <p:nvPr/>
        </p:nvSpPr>
        <p:spPr>
          <a:xfrm>
            <a:off x="594360" y="1234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o-207"/>
          <p:cNvSpPr txBox="1"/>
          <p:nvPr/>
        </p:nvSpPr>
        <p:spPr>
          <a:xfrm>
            <a:off x="1143000" y="1188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Hardware, firmware y transformaciones</a:t>
            </a:r>
            <a:endParaRPr lang="en-US" sz="1400" dirty="0"/>
          </a:p>
        </p:txBody>
      </p:sp>
      <p:sp>
        <p:nvSpPr>
          <p:cNvPr id="7" name="texto-208"/>
          <p:cNvSpPr txBox="1"/>
          <p:nvPr/>
        </p:nvSpPr>
        <p:spPr>
          <a:xfrm>
            <a:off x="1143000" y="1508760"/>
            <a:ext cx="3154680" cy="548640"/>
          </a:xfrm>
          <a:prstGeom prst="rect">
            <a:avLst/>
          </a:prstGeom>
          <a:noFill/>
          <a:ln/>
        </p:spPr>
        <p:txBody>
          <a:bodyPr wrap="square" lIns="0" tIns="0" rIns="0" bIns="0" rtlCol="0" anchor="t"/>
          <a:lstStyle/>
          <a:p>
            <a:pPr indent="0" marL="0">
              <a:buNone/>
            </a:pPr>
            <a:r>
              <a:rPr lang="en-US" sz="1300" dirty="0">
                <a:solidFill>
                  <a:schemeClr val="tx1"/>
                </a:solidFill>
              </a:rPr>
              <a:t>Hardware ejecuta; firmware genera el dato. Cada cambio ocurre en una frontera</a:t>
            </a:r>
            <a:endParaRPr lang="en-US" sz="1300" dirty="0"/>
          </a:p>
        </p:txBody>
      </p:sp>
      <p:sp>
        <p:nvSpPr>
          <p:cNvPr id="8" name="tarjeta-209"/>
          <p:cNvSpPr/>
          <p:nvPr/>
        </p:nvSpPr>
        <p:spPr>
          <a:xfrm>
            <a:off x="4709160" y="1097280"/>
            <a:ext cx="3977640" cy="1005840"/>
          </a:xfrm>
          <a:prstGeom prst="roundRect">
            <a:avLst>
              <a:gd name="adj" fmla="val 9091"/>
            </a:avLst>
          </a:prstGeom>
          <a:solidFill>
            <a:schemeClr val="bg2"/>
          </a:solidFill>
          <a:ln/>
        </p:spPr>
      </p:sp>
      <p:sp>
        <p:nvSpPr>
          <p:cNvPr id="9" name="numero-210"/>
          <p:cNvSpPr txBox="1"/>
          <p:nvPr/>
        </p:nvSpPr>
        <p:spPr>
          <a:xfrm>
            <a:off x="4846320" y="1234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o-211"/>
          <p:cNvSpPr txBox="1"/>
          <p:nvPr/>
        </p:nvSpPr>
        <p:spPr>
          <a:xfrm>
            <a:off x="5394960" y="1188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Servicios del SO que usa la app</a:t>
            </a:r>
            <a:endParaRPr lang="en-US" sz="1400" dirty="0"/>
          </a:p>
        </p:txBody>
      </p:sp>
      <p:sp>
        <p:nvSpPr>
          <p:cNvPr id="11" name="texto-212"/>
          <p:cNvSpPr txBox="1"/>
          <p:nvPr/>
        </p:nvSpPr>
        <p:spPr>
          <a:xfrm>
            <a:off x="5394960" y="1508760"/>
            <a:ext cx="3154680" cy="548640"/>
          </a:xfrm>
          <a:prstGeom prst="rect">
            <a:avLst/>
          </a:prstGeom>
          <a:noFill/>
          <a:ln/>
        </p:spPr>
        <p:txBody>
          <a:bodyPr wrap="square" lIns="0" tIns="0" rIns="0" bIns="0" rtlCol="0" anchor="t"/>
          <a:lstStyle/>
          <a:p>
            <a:pPr indent="0" marL="0">
              <a:buNone/>
            </a:pPr>
            <a:r>
              <a:rPr lang="en-US" sz="1300" dirty="0">
                <a:solidFill>
                  <a:schemeClr val="tx1"/>
                </a:solidFill>
              </a:rPr>
              <a:t>Sockets TCP, archivos, CPU, memoria, disco y variables de entorno</a:t>
            </a:r>
            <a:endParaRPr lang="en-US" sz="1300" dirty="0"/>
          </a:p>
        </p:txBody>
      </p:sp>
      <p:sp>
        <p:nvSpPr>
          <p:cNvPr id="12" name="tarjeta-213"/>
          <p:cNvSpPr/>
          <p:nvPr/>
        </p:nvSpPr>
        <p:spPr>
          <a:xfrm>
            <a:off x="457200" y="2240280"/>
            <a:ext cx="3977640" cy="1005840"/>
          </a:xfrm>
          <a:prstGeom prst="roundRect">
            <a:avLst>
              <a:gd name="adj" fmla="val 9091"/>
            </a:avLst>
          </a:prstGeom>
          <a:solidFill>
            <a:schemeClr val="bg2"/>
          </a:solidFill>
          <a:ln/>
        </p:spPr>
      </p:sp>
      <p:sp>
        <p:nvSpPr>
          <p:cNvPr id="13" name="numero-214"/>
          <p:cNvSpPr txBox="1"/>
          <p:nvPr/>
        </p:nvSpPr>
        <p:spPr>
          <a:xfrm>
            <a:off x="594360" y="2377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o-215"/>
          <p:cNvSpPr txBox="1"/>
          <p:nvPr/>
        </p:nvSpPr>
        <p:spPr>
          <a:xfrm>
            <a:off x="1143000" y="2331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Permisos revocados por el SO</a:t>
            </a:r>
            <a:endParaRPr lang="en-US" sz="1400" dirty="0"/>
          </a:p>
        </p:txBody>
      </p:sp>
      <p:sp>
        <p:nvSpPr>
          <p:cNvPr id="15" name="texto-216"/>
          <p:cNvSpPr txBox="1"/>
          <p:nvPr/>
        </p:nvSpPr>
        <p:spPr>
          <a:xfrm>
            <a:off x="1143000" y="2651760"/>
            <a:ext cx="3154680" cy="548640"/>
          </a:xfrm>
          <a:prstGeom prst="rect">
            <a:avLst/>
          </a:prstGeom>
          <a:noFill/>
          <a:ln/>
        </p:spPr>
        <p:txBody>
          <a:bodyPr wrap="square" lIns="0" tIns="0" rIns="0" bIns="0" rtlCol="0" anchor="t"/>
          <a:lstStyle/>
          <a:p>
            <a:pPr indent="0" marL="0">
              <a:buNone/>
            </a:pPr>
            <a:r>
              <a:rPr lang="en-US" sz="1300" dirty="0">
                <a:solidFill>
                  <a:schemeClr val="tx1"/>
                </a:solidFill>
              </a:rPr>
              <a:t>OSError capturado: se cuenta, se registra y el ciclo sigue</a:t>
            </a:r>
            <a:endParaRPr lang="en-US" sz="1300" dirty="0"/>
          </a:p>
        </p:txBody>
      </p:sp>
      <p:sp>
        <p:nvSpPr>
          <p:cNvPr id="16" name="tarjeta-217"/>
          <p:cNvSpPr/>
          <p:nvPr/>
        </p:nvSpPr>
        <p:spPr>
          <a:xfrm>
            <a:off x="4709160" y="2240280"/>
            <a:ext cx="3977640" cy="1005840"/>
          </a:xfrm>
          <a:prstGeom prst="roundRect">
            <a:avLst>
              <a:gd name="adj" fmla="val 9091"/>
            </a:avLst>
          </a:prstGeom>
          <a:solidFill>
            <a:schemeClr val="bg2"/>
          </a:solidFill>
          <a:ln/>
        </p:spPr>
      </p:sp>
      <p:sp>
        <p:nvSpPr>
          <p:cNvPr id="17" name="numero-218"/>
          <p:cNvSpPr txBox="1"/>
          <p:nvPr/>
        </p:nvSpPr>
        <p:spPr>
          <a:xfrm>
            <a:off x="4846320" y="2377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o-219"/>
          <p:cNvSpPr txBox="1"/>
          <p:nvPr/>
        </p:nvSpPr>
        <p:spPr>
          <a:xfrm>
            <a:off x="5394960" y="2331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Python frente a C/C++ o Rust</a:t>
            </a:r>
            <a:endParaRPr lang="en-US" sz="1400" dirty="0"/>
          </a:p>
        </p:txBody>
      </p:sp>
      <p:sp>
        <p:nvSpPr>
          <p:cNvPr id="19" name="texto-220"/>
          <p:cNvSpPr txBox="1"/>
          <p:nvPr/>
        </p:nvSpPr>
        <p:spPr>
          <a:xfrm>
            <a:off x="5394960" y="2651760"/>
            <a:ext cx="3154680" cy="548640"/>
          </a:xfrm>
          <a:prstGeom prst="rect">
            <a:avLst/>
          </a:prstGeom>
          <a:noFill/>
          <a:ln/>
        </p:spPr>
        <p:txBody>
          <a:bodyPr wrap="square" lIns="0" tIns="0" rIns="0" bIns="0" rtlCol="0" anchor="t"/>
          <a:lstStyle/>
          <a:p>
            <a:pPr indent="0" marL="0">
              <a:buNone/>
            </a:pPr>
            <a:r>
              <a:rPr lang="en-US" sz="1300" dirty="0">
                <a:solidFill>
                  <a:schemeClr val="tx1"/>
                </a:solidFill>
              </a:rPr>
              <a:t>Rápido de desarrollar, pero el GIL limita y no sirve para firmware</a:t>
            </a:r>
            <a:endParaRPr lang="en-US" sz="1300" dirty="0"/>
          </a:p>
        </p:txBody>
      </p:sp>
      <p:sp>
        <p:nvSpPr>
          <p:cNvPr id="20" name="tarjeta-221"/>
          <p:cNvSpPr/>
          <p:nvPr/>
        </p:nvSpPr>
        <p:spPr>
          <a:xfrm>
            <a:off x="457200" y="3383280"/>
            <a:ext cx="3977640" cy="1005840"/>
          </a:xfrm>
          <a:prstGeom prst="roundRect">
            <a:avLst>
              <a:gd name="adj" fmla="val 9091"/>
            </a:avLst>
          </a:prstGeom>
          <a:solidFill>
            <a:schemeClr val="bg2"/>
          </a:solidFill>
          <a:ln/>
        </p:spPr>
      </p:sp>
      <p:sp>
        <p:nvSpPr>
          <p:cNvPr id="21" name="numero-222"/>
          <p:cNvSpPr txBox="1"/>
          <p:nvPr/>
        </p:nvSpPr>
        <p:spPr>
          <a:xfrm>
            <a:off x="594360" y="3520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o-223"/>
          <p:cNvSpPr txBox="1"/>
          <p:nvPr/>
        </p:nvSpPr>
        <p:spPr>
          <a:xfrm>
            <a:off x="1143000" y="3474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¿Qué va en firmware y qué en la app?</a:t>
            </a:r>
            <a:endParaRPr lang="en-US" sz="1400" dirty="0"/>
          </a:p>
        </p:txBody>
      </p:sp>
      <p:sp>
        <p:nvSpPr>
          <p:cNvPr id="23" name="texto-224"/>
          <p:cNvSpPr txBox="1"/>
          <p:nvPr/>
        </p:nvSpPr>
        <p:spPr>
          <a:xfrm>
            <a:off x="1143000" y="3794760"/>
            <a:ext cx="3154680" cy="548640"/>
          </a:xfrm>
          <a:prstGeom prst="rect">
            <a:avLst/>
          </a:prstGeom>
          <a:noFill/>
          <a:ln/>
        </p:spPr>
        <p:txBody>
          <a:bodyPr wrap="square" lIns="0" tIns="0" rIns="0" bIns="0" rtlCol="0" anchor="t"/>
          <a:lstStyle/>
          <a:p>
            <a:pPr indent="0" marL="0">
              <a:buNone/>
            </a:pPr>
            <a:r>
              <a:rPr lang="en-US" sz="1300" dirty="0">
                <a:solidFill>
                  <a:schemeClr val="tx1"/>
                </a:solidFill>
              </a:rPr>
              <a:t>Tiempo real y bajo nivel en firmware; lógica y datos en la aplicación</a:t>
            </a:r>
            <a:endParaRPr lang="en-US" sz="1300" dirty="0"/>
          </a:p>
        </p:txBody>
      </p:sp>
      <p:sp>
        <p:nvSpPr>
          <p:cNvPr id="24" name="tarjeta-225"/>
          <p:cNvSpPr/>
          <p:nvPr/>
        </p:nvSpPr>
        <p:spPr>
          <a:xfrm>
            <a:off x="4709160" y="3383280"/>
            <a:ext cx="3977640" cy="1005840"/>
          </a:xfrm>
          <a:prstGeom prst="roundRect">
            <a:avLst>
              <a:gd name="adj" fmla="val 9091"/>
            </a:avLst>
          </a:prstGeom>
          <a:solidFill>
            <a:schemeClr val="bg2"/>
          </a:solidFill>
          <a:ln/>
        </p:spPr>
      </p:sp>
      <p:sp>
        <p:nvSpPr>
          <p:cNvPr id="25" name="numero-226"/>
          <p:cNvSpPr txBox="1"/>
          <p:nvPr/>
        </p:nvSpPr>
        <p:spPr>
          <a:xfrm>
            <a:off x="4846320" y="3520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texto-227"/>
          <p:cNvSpPr txBox="1"/>
          <p:nvPr/>
        </p:nvSpPr>
        <p:spPr>
          <a:xfrm>
            <a:off x="5394960" y="3474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100 dispositivos simultáneos</a:t>
            </a:r>
            <a:endParaRPr lang="en-US" sz="1400" dirty="0"/>
          </a:p>
        </p:txBody>
      </p:sp>
      <p:sp>
        <p:nvSpPr>
          <p:cNvPr id="27" name="texto-228"/>
          <p:cNvSpPr txBox="1"/>
          <p:nvPr/>
        </p:nvSpPr>
        <p:spPr>
          <a:xfrm>
            <a:off x="5394960" y="3794760"/>
            <a:ext cx="3154680" cy="548640"/>
          </a:xfrm>
          <a:prstGeom prst="rect">
            <a:avLst/>
          </a:prstGeom>
          <a:noFill/>
          <a:ln/>
        </p:spPr>
        <p:txBody>
          <a:bodyPr wrap="square" lIns="0" tIns="0" rIns="0" bIns="0" rtlCol="0" anchor="t"/>
          <a:lstStyle/>
          <a:p>
            <a:pPr indent="0" marL="0">
              <a:buNone/>
            </a:pPr>
            <a:r>
              <a:rPr lang="en-US" sz="1300" dirty="0">
                <a:solidFill>
                  <a:schemeClr val="tx1"/>
                </a:solidFill>
              </a:rPr>
              <a:t>Servidor asíncrono y cola de mensajes (MQTT) en vez de sockets directos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Preguntas de integración (2/2)</a:t>
            </a:r>
            <a:endParaRPr lang="en-US" sz="3600" dirty="0"/>
          </a:p>
        </p:txBody>
      </p:sp>
      <p:sp>
        <p:nvSpPr>
          <p:cNvPr id="4" name="tarjeta-229"/>
          <p:cNvSpPr/>
          <p:nvPr/>
        </p:nvSpPr>
        <p:spPr>
          <a:xfrm>
            <a:off x="457200" y="1097280"/>
            <a:ext cx="3977640" cy="1005840"/>
          </a:xfrm>
          <a:prstGeom prst="roundRect">
            <a:avLst>
              <a:gd name="adj" fmla="val 9091"/>
            </a:avLst>
          </a:prstGeom>
          <a:solidFill>
            <a:schemeClr val="bg2"/>
          </a:solidFill>
          <a:ln/>
        </p:spPr>
      </p:sp>
      <p:sp>
        <p:nvSpPr>
          <p:cNvPr id="5" name="numero-230"/>
          <p:cNvSpPr txBox="1"/>
          <p:nvPr/>
        </p:nvSpPr>
        <p:spPr>
          <a:xfrm>
            <a:off x="594360" y="1234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6" name="texto-231"/>
          <p:cNvSpPr txBox="1"/>
          <p:nvPr/>
        </p:nvSpPr>
        <p:spPr>
          <a:xfrm>
            <a:off x="1143000" y="1188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Riesgos de seguridad</a:t>
            </a:r>
            <a:endParaRPr lang="en-US" sz="1400" dirty="0"/>
          </a:p>
        </p:txBody>
      </p:sp>
      <p:sp>
        <p:nvSpPr>
          <p:cNvPr id="7" name="texto-232"/>
          <p:cNvSpPr txBox="1"/>
          <p:nvPr/>
        </p:nvSpPr>
        <p:spPr>
          <a:xfrm>
            <a:off x="1143000" y="1508760"/>
            <a:ext cx="3154680" cy="548640"/>
          </a:xfrm>
          <a:prstGeom prst="rect">
            <a:avLst/>
          </a:prstGeom>
          <a:noFill/>
          <a:ln/>
        </p:spPr>
        <p:txBody>
          <a:bodyPr wrap="square" lIns="0" tIns="0" rIns="0" bIns="0" rtlCol="0" anchor="t"/>
          <a:lstStyle/>
          <a:p>
            <a:pPr indent="0" marL="0">
              <a:buNone/>
            </a:pPr>
            <a:r>
              <a:rPr lang="en-US" sz="1300" dirty="0">
                <a:solidFill>
                  <a:schemeClr val="tx1"/>
                </a:solidFill>
              </a:rPr>
              <a:t>Nunca ejecutar el dato: solo json.loads y validación campo por campo</a:t>
            </a:r>
            <a:endParaRPr lang="en-US" sz="1300" dirty="0"/>
          </a:p>
        </p:txBody>
      </p:sp>
      <p:sp>
        <p:nvSpPr>
          <p:cNvPr id="8" name="tarjeta-233"/>
          <p:cNvSpPr/>
          <p:nvPr/>
        </p:nvSpPr>
        <p:spPr>
          <a:xfrm>
            <a:off x="4709160" y="1097280"/>
            <a:ext cx="3977640" cy="1005840"/>
          </a:xfrm>
          <a:prstGeom prst="roundRect">
            <a:avLst>
              <a:gd name="adj" fmla="val 9091"/>
            </a:avLst>
          </a:prstGeom>
          <a:solidFill>
            <a:schemeClr val="bg2"/>
          </a:solidFill>
          <a:ln/>
        </p:spPr>
      </p:sp>
      <p:sp>
        <p:nvSpPr>
          <p:cNvPr id="9" name="numero-234"/>
          <p:cNvSpPr txBox="1"/>
          <p:nvPr/>
        </p:nvSpPr>
        <p:spPr>
          <a:xfrm>
            <a:off x="4846320" y="1234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10" name="texto-235"/>
          <p:cNvSpPr txBox="1"/>
          <p:nvPr/>
        </p:nvSpPr>
        <p:spPr>
          <a:xfrm>
            <a:off x="5394960" y="1188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Integridad y trazabilidad</a:t>
            </a:r>
            <a:endParaRPr lang="en-US" sz="1400" dirty="0"/>
          </a:p>
        </p:txBody>
      </p:sp>
      <p:sp>
        <p:nvSpPr>
          <p:cNvPr id="11" name="texto-236"/>
          <p:cNvSpPr txBox="1"/>
          <p:nvPr/>
        </p:nvSpPr>
        <p:spPr>
          <a:xfrm>
            <a:off x="5394960" y="1508760"/>
            <a:ext cx="3154680" cy="548640"/>
          </a:xfrm>
          <a:prstGeom prst="rect">
            <a:avLst/>
          </a:prstGeom>
          <a:noFill/>
          <a:ln/>
        </p:spPr>
        <p:txBody>
          <a:bodyPr wrap="square" lIns="0" tIns="0" rIns="0" bIns="0" rtlCol="0" anchor="t"/>
          <a:lstStyle/>
          <a:p>
            <a:pPr indent="0" marL="0">
              <a:buNone/>
            </a:pPr>
            <a:r>
              <a:rPr lang="en-US" sz="1300" dirty="0">
                <a:solidFill>
                  <a:schemeClr val="tx1"/>
                </a:solidFill>
              </a:rPr>
              <a:t>Timestamp y estado en cada registro; logs con evento y resultado</a:t>
            </a:r>
            <a:endParaRPr lang="en-US" sz="1300" dirty="0"/>
          </a:p>
        </p:txBody>
      </p:sp>
      <p:sp>
        <p:nvSpPr>
          <p:cNvPr id="12" name="tarjeta-237"/>
          <p:cNvSpPr/>
          <p:nvPr/>
        </p:nvSpPr>
        <p:spPr>
          <a:xfrm>
            <a:off x="457200" y="2240280"/>
            <a:ext cx="3977640" cy="1005840"/>
          </a:xfrm>
          <a:prstGeom prst="roundRect">
            <a:avLst>
              <a:gd name="adj" fmla="val 9091"/>
            </a:avLst>
          </a:prstGeom>
          <a:solidFill>
            <a:schemeClr val="bg2"/>
          </a:solidFill>
          <a:ln/>
        </p:spPr>
      </p:sp>
      <p:sp>
        <p:nvSpPr>
          <p:cNvPr id="13" name="numero-238"/>
          <p:cNvSpPr txBox="1"/>
          <p:nvPr/>
        </p:nvSpPr>
        <p:spPr>
          <a:xfrm>
            <a:off x="594360" y="2377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14" name="texto-239"/>
          <p:cNvSpPr txBox="1"/>
          <p:nvPr/>
        </p:nvSpPr>
        <p:spPr>
          <a:xfrm>
            <a:off x="1143000" y="2331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Windows frente a Linux</a:t>
            </a:r>
            <a:endParaRPr lang="en-US" sz="1400" dirty="0"/>
          </a:p>
        </p:txBody>
      </p:sp>
      <p:sp>
        <p:nvSpPr>
          <p:cNvPr id="15" name="texto-240"/>
          <p:cNvSpPr txBox="1"/>
          <p:nvPr/>
        </p:nvSpPr>
        <p:spPr>
          <a:xfrm>
            <a:off x="1143000" y="2651760"/>
            <a:ext cx="3154680" cy="548640"/>
          </a:xfrm>
          <a:prstGeom prst="rect">
            <a:avLst/>
          </a:prstGeom>
          <a:noFill/>
          <a:ln/>
        </p:spPr>
        <p:txBody>
          <a:bodyPr wrap="square" lIns="0" tIns="0" rIns="0" bIns="0" rtlCol="0" anchor="t"/>
          <a:lstStyle/>
          <a:p>
            <a:pPr indent="0" marL="0">
              <a:buNone/>
            </a:pPr>
            <a:r>
              <a:rPr lang="en-US" sz="1300" dirty="0">
                <a:solidFill>
                  <a:schemeClr val="tx1"/>
                </a:solidFill>
              </a:rPr>
              <a:t>Códigos de error de socket distintos, misma jerarquía de excepciones</a:t>
            </a:r>
            <a:endParaRPr lang="en-US" sz="1300" dirty="0"/>
          </a:p>
        </p:txBody>
      </p:sp>
      <p:sp>
        <p:nvSpPr>
          <p:cNvPr id="16" name="tarjeta-241"/>
          <p:cNvSpPr/>
          <p:nvPr/>
        </p:nvSpPr>
        <p:spPr>
          <a:xfrm>
            <a:off x="4709160" y="2240280"/>
            <a:ext cx="3977640" cy="1005840"/>
          </a:xfrm>
          <a:prstGeom prst="roundRect">
            <a:avLst>
              <a:gd name="adj" fmla="val 9091"/>
            </a:avLst>
          </a:prstGeom>
          <a:solidFill>
            <a:schemeClr val="bg2"/>
          </a:solidFill>
          <a:ln/>
        </p:spPr>
      </p:sp>
      <p:sp>
        <p:nvSpPr>
          <p:cNvPr id="17" name="numero-242"/>
          <p:cNvSpPr txBox="1"/>
          <p:nvPr/>
        </p:nvSpPr>
        <p:spPr>
          <a:xfrm>
            <a:off x="4846320" y="2377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18" name="texto-243"/>
          <p:cNvSpPr txBox="1"/>
          <p:nvPr/>
        </p:nvSpPr>
        <p:spPr>
          <a:xfrm>
            <a:off x="5394960" y="2331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Actualizar el firmware</a:t>
            </a:r>
            <a:endParaRPr lang="en-US" sz="1400" dirty="0"/>
          </a:p>
        </p:txBody>
      </p:sp>
      <p:sp>
        <p:nvSpPr>
          <p:cNvPr id="19" name="texto-244"/>
          <p:cNvSpPr txBox="1"/>
          <p:nvPr/>
        </p:nvSpPr>
        <p:spPr>
          <a:xfrm>
            <a:off x="5394960" y="2651760"/>
            <a:ext cx="3154680" cy="548640"/>
          </a:xfrm>
          <a:prstGeom prst="rect">
            <a:avLst/>
          </a:prstGeom>
          <a:noFill/>
          <a:ln/>
        </p:spPr>
        <p:txBody>
          <a:bodyPr wrap="square" lIns="0" tIns="0" rIns="0" bIns="0" rtlCol="0" anchor="t"/>
          <a:lstStyle/>
          <a:p>
            <a:pPr indent="0" marL="0">
              <a:buNone/>
            </a:pPr>
            <a:r>
              <a:rPr lang="en-US" sz="1300" dirty="0">
                <a:solidFill>
                  <a:schemeClr val="tx1"/>
                </a:solidFill>
              </a:rPr>
              <a:t>Despliegue azul-verde: validar la versión nueva antes de conmutar</a:t>
            </a:r>
            <a:endParaRPr lang="en-US" sz="1300" dirty="0"/>
          </a:p>
        </p:txBody>
      </p:sp>
      <p:sp>
        <p:nvSpPr>
          <p:cNvPr id="20" name="tarjeta-245"/>
          <p:cNvSpPr/>
          <p:nvPr/>
        </p:nvSpPr>
        <p:spPr>
          <a:xfrm>
            <a:off x="457200" y="3383280"/>
            <a:ext cx="3977640" cy="1005840"/>
          </a:xfrm>
          <a:prstGeom prst="roundRect">
            <a:avLst>
              <a:gd name="adj" fmla="val 9091"/>
            </a:avLst>
          </a:prstGeom>
          <a:solidFill>
            <a:schemeClr val="bg2"/>
          </a:solidFill>
          <a:ln/>
        </p:spPr>
      </p:sp>
      <p:sp>
        <p:nvSpPr>
          <p:cNvPr id="21" name="numero-246"/>
          <p:cNvSpPr txBox="1"/>
          <p:nvPr/>
        </p:nvSpPr>
        <p:spPr>
          <a:xfrm>
            <a:off x="594360" y="3520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22" name="texto-247"/>
          <p:cNvSpPr txBox="1"/>
          <p:nvPr/>
        </p:nvSpPr>
        <p:spPr>
          <a:xfrm>
            <a:off x="1143000" y="3474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Pruebas antes de producción</a:t>
            </a:r>
            <a:endParaRPr lang="en-US" sz="1400" dirty="0"/>
          </a:p>
        </p:txBody>
      </p:sp>
      <p:sp>
        <p:nvSpPr>
          <p:cNvPr id="23" name="texto-248"/>
          <p:cNvSpPr txBox="1"/>
          <p:nvPr/>
        </p:nvSpPr>
        <p:spPr>
          <a:xfrm>
            <a:off x="1143000" y="3794760"/>
            <a:ext cx="3154680" cy="548640"/>
          </a:xfrm>
          <a:prstGeom prst="rect">
            <a:avLst/>
          </a:prstGeom>
          <a:noFill/>
          <a:ln/>
        </p:spPr>
        <p:txBody>
          <a:bodyPr wrap="square" lIns="0" tIns="0" rIns="0" bIns="0" rtlCol="0" anchor="t"/>
          <a:lstStyle/>
          <a:p>
            <a:pPr indent="0" marL="0">
              <a:buNone/>
            </a:pPr>
            <a:r>
              <a:rPr lang="en-US" sz="1300" dirty="0">
                <a:solidFill>
                  <a:schemeClr val="tx1"/>
                </a:solidFill>
              </a:rPr>
              <a:t>Carga sostenida, fuzzing del parser y concurrencia real</a:t>
            </a:r>
            <a:endParaRPr lang="en-US" sz="1300" dirty="0"/>
          </a:p>
        </p:txBody>
      </p:sp>
      <p:sp>
        <p:nvSpPr>
          <p:cNvPr id="24" name="tarjeta-249"/>
          <p:cNvSpPr/>
          <p:nvPr/>
        </p:nvSpPr>
        <p:spPr>
          <a:xfrm>
            <a:off x="4709160" y="3383280"/>
            <a:ext cx="3977640" cy="1005840"/>
          </a:xfrm>
          <a:prstGeom prst="roundRect">
            <a:avLst>
              <a:gd name="adj" fmla="val 9091"/>
            </a:avLst>
          </a:prstGeom>
          <a:solidFill>
            <a:schemeClr val="bg2"/>
          </a:solidFill>
          <a:ln/>
        </p:spPr>
      </p:sp>
      <p:sp>
        <p:nvSpPr>
          <p:cNvPr id="25" name="numero-250"/>
          <p:cNvSpPr txBox="1"/>
          <p:nvPr/>
        </p:nvSpPr>
        <p:spPr>
          <a:xfrm>
            <a:off x="4846320" y="3520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26" name="texto-251"/>
          <p:cNvSpPr txBox="1"/>
          <p:nvPr/>
        </p:nvSpPr>
        <p:spPr>
          <a:xfrm>
            <a:off x="5394960" y="3474720"/>
            <a:ext cx="3154680" cy="320040"/>
          </a:xfrm>
          <a:prstGeom prst="rect">
            <a:avLst/>
          </a:prstGeom>
          <a:noFill/>
          <a:ln/>
        </p:spPr>
        <p:txBody>
          <a:bodyPr wrap="square" lIns="0" tIns="0" rIns="0" bIns="0" rtlCol="0" anchor="ctr"/>
          <a:lstStyle/>
          <a:p>
            <a:pPr indent="0" marL="0">
              <a:buNone/>
            </a:pPr>
            <a:r>
              <a:rPr lang="en-US" sz="1400" b="1" dirty="0">
                <a:solidFill>
                  <a:schemeClr val="tx1"/>
                </a:solidFill>
              </a:rPr>
              <a:t>Principal punto de falla</a:t>
            </a:r>
            <a:endParaRPr lang="en-US" sz="1400" dirty="0"/>
          </a:p>
        </p:txBody>
      </p:sp>
      <p:sp>
        <p:nvSpPr>
          <p:cNvPr id="27" name="texto-252"/>
          <p:cNvSpPr txBox="1"/>
          <p:nvPr/>
        </p:nvSpPr>
        <p:spPr>
          <a:xfrm>
            <a:off x="5394960" y="3794760"/>
            <a:ext cx="3154680" cy="548640"/>
          </a:xfrm>
          <a:prstGeom prst="rect">
            <a:avLst/>
          </a:prstGeom>
          <a:noFill/>
          <a:ln/>
        </p:spPr>
        <p:txBody>
          <a:bodyPr wrap="square" lIns="0" tIns="0" rIns="0" bIns="0" rtlCol="0" anchor="t"/>
          <a:lstStyle/>
          <a:p>
            <a:pPr indent="0" marL="0">
              <a:buNone/>
            </a:pPr>
            <a:r>
              <a:rPr lang="en-US" sz="1300" dirty="0">
                <a:solidFill>
                  <a:schemeClr val="tx1"/>
                </a:solidFill>
              </a:rPr>
              <a:t>El socket a un único firmware: redundancia y cola intermedia</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bg1"/>
                </a:solidFill>
              </a:rPr>
              <a:t>Conclusiones</a:t>
            </a:r>
            <a:endParaRPr lang="en-US" sz="3600" dirty="0"/>
          </a:p>
        </p:txBody>
      </p:sp>
      <p:sp>
        <p:nvSpPr>
          <p:cNvPr id="4" name="circulo-253"/>
          <p:cNvSpPr/>
          <p:nvPr/>
        </p:nvSpPr>
        <p:spPr>
          <a:xfrm>
            <a:off x="548640" y="1234440"/>
            <a:ext cx="548640" cy="548640"/>
          </a:xfrm>
          <a:prstGeom prst="ellipse">
            <a:avLst/>
          </a:prstGeom>
          <a:solidFill>
            <a:schemeClr val="accent4"/>
          </a:solidFill>
          <a:ln/>
        </p:spPr>
      </p:sp>
      <p:pic>
        <p:nvPicPr>
          <p:cNvPr id="5" name="icono-254" descr="preencoded.png">    </p:cNvPr>
          <p:cNvPicPr>
            <a:picLocks noChangeAspect="1"/>
          </p:cNvPicPr>
          <p:nvPr/>
        </p:nvPicPr>
        <p:blipFill>
          <a:blip r:embed="rId1"/>
          <a:stretch>
            <a:fillRect/>
          </a:stretch>
        </p:blipFill>
        <p:spPr>
          <a:xfrm>
            <a:off x="669341" y="1355141"/>
            <a:ext cx="307238" cy="307238"/>
          </a:xfrm>
          <a:prstGeom prst="rect">
            <a:avLst/>
          </a:prstGeom>
        </p:spPr>
      </p:pic>
      <p:sp>
        <p:nvSpPr>
          <p:cNvPr id="6" name="texto-255"/>
          <p:cNvSpPr txBox="1"/>
          <p:nvPr/>
        </p:nvSpPr>
        <p:spPr>
          <a:xfrm>
            <a:off x="1325880" y="1234440"/>
            <a:ext cx="7315200" cy="548640"/>
          </a:xfrm>
          <a:prstGeom prst="rect">
            <a:avLst/>
          </a:prstGeom>
          <a:noFill/>
          <a:ln/>
        </p:spPr>
        <p:txBody>
          <a:bodyPr wrap="square" lIns="0" tIns="0" rIns="0" bIns="0" rtlCol="0" anchor="ctr"/>
          <a:lstStyle/>
          <a:p>
            <a:pPr indent="0" marL="0">
              <a:buNone/>
            </a:pPr>
            <a:r>
              <a:rPr lang="en-US" sz="1800" dirty="0">
                <a:solidFill>
                  <a:schemeClr val="bg1"/>
                </a:solidFill>
              </a:rPr>
              <a:t>Recorrido completo con evidencia real: del firmware al reporte</a:t>
            </a:r>
            <a:endParaRPr lang="en-US" sz="1800" dirty="0"/>
          </a:p>
        </p:txBody>
      </p:sp>
      <p:sp>
        <p:nvSpPr>
          <p:cNvPr id="7" name="circulo-256"/>
          <p:cNvSpPr/>
          <p:nvPr/>
        </p:nvSpPr>
        <p:spPr>
          <a:xfrm>
            <a:off x="548640" y="2057400"/>
            <a:ext cx="548640" cy="548640"/>
          </a:xfrm>
          <a:prstGeom prst="ellipse">
            <a:avLst/>
          </a:prstGeom>
          <a:solidFill>
            <a:schemeClr val="accent1"/>
          </a:solidFill>
          <a:ln/>
        </p:spPr>
      </p:sp>
      <p:pic>
        <p:nvPicPr>
          <p:cNvPr id="8" name="icono-257" descr="preencoded.png">    </p:cNvPr>
          <p:cNvPicPr>
            <a:picLocks noChangeAspect="1"/>
          </p:cNvPicPr>
          <p:nvPr/>
        </p:nvPicPr>
        <p:blipFill>
          <a:blip r:embed="rId2"/>
          <a:stretch>
            <a:fillRect/>
          </a:stretch>
        </p:blipFill>
        <p:spPr>
          <a:xfrm>
            <a:off x="669341" y="2178101"/>
            <a:ext cx="307238" cy="307238"/>
          </a:xfrm>
          <a:prstGeom prst="rect">
            <a:avLst/>
          </a:prstGeom>
        </p:spPr>
      </p:pic>
      <p:sp>
        <p:nvSpPr>
          <p:cNvPr id="9" name="texto-258"/>
          <p:cNvSpPr txBox="1"/>
          <p:nvPr/>
        </p:nvSpPr>
        <p:spPr>
          <a:xfrm>
            <a:off x="1325880" y="2057400"/>
            <a:ext cx="7315200" cy="548640"/>
          </a:xfrm>
          <a:prstGeom prst="rect">
            <a:avLst/>
          </a:prstGeom>
          <a:noFill/>
          <a:ln/>
        </p:spPr>
        <p:txBody>
          <a:bodyPr wrap="square" lIns="0" tIns="0" rIns="0" bIns="0" rtlCol="0" anchor="ctr"/>
          <a:lstStyle/>
          <a:p>
            <a:pPr indent="0" marL="0">
              <a:buNone/>
            </a:pPr>
            <a:r>
              <a:rPr lang="en-US" sz="1800" dirty="0">
                <a:solidFill>
                  <a:schemeClr val="bg1"/>
                </a:solidFill>
              </a:rPr>
              <a:t>TDD encontró un defecto real de tolerancia a fallas antes de la entrega</a:t>
            </a:r>
            <a:endParaRPr lang="en-US" sz="1800" dirty="0"/>
          </a:p>
        </p:txBody>
      </p:sp>
      <p:sp>
        <p:nvSpPr>
          <p:cNvPr id="10" name="circulo-259"/>
          <p:cNvSpPr/>
          <p:nvPr/>
        </p:nvSpPr>
        <p:spPr>
          <a:xfrm>
            <a:off x="548640" y="2880360"/>
            <a:ext cx="548640" cy="548640"/>
          </a:xfrm>
          <a:prstGeom prst="ellipse">
            <a:avLst/>
          </a:prstGeom>
          <a:solidFill>
            <a:schemeClr val="accent2"/>
          </a:solidFill>
          <a:ln/>
        </p:spPr>
      </p:sp>
      <p:pic>
        <p:nvPicPr>
          <p:cNvPr id="11" name="icono-260" descr="preencoded.png">    </p:cNvPr>
          <p:cNvPicPr>
            <a:picLocks noChangeAspect="1"/>
          </p:cNvPicPr>
          <p:nvPr/>
        </p:nvPicPr>
        <p:blipFill>
          <a:blip r:embed="rId3"/>
          <a:stretch>
            <a:fillRect/>
          </a:stretch>
        </p:blipFill>
        <p:spPr>
          <a:xfrm>
            <a:off x="669341" y="3001061"/>
            <a:ext cx="307238" cy="307238"/>
          </a:xfrm>
          <a:prstGeom prst="rect">
            <a:avLst/>
          </a:prstGeom>
        </p:spPr>
      </p:pic>
      <p:sp>
        <p:nvSpPr>
          <p:cNvPr id="12" name="texto-261"/>
          <p:cNvSpPr txBox="1"/>
          <p:nvPr/>
        </p:nvSpPr>
        <p:spPr>
          <a:xfrm>
            <a:off x="1325880" y="2880360"/>
            <a:ext cx="7315200" cy="548640"/>
          </a:xfrm>
          <a:prstGeom prst="rect">
            <a:avLst/>
          </a:prstGeom>
          <a:noFill/>
          <a:ln/>
        </p:spPr>
        <p:txBody>
          <a:bodyPr wrap="square" lIns="0" tIns="0" rIns="0" bIns="0" rtlCol="0" anchor="ctr"/>
          <a:lstStyle/>
          <a:p>
            <a:pPr indent="0" marL="0">
              <a:buNone/>
            </a:pPr>
            <a:r>
              <a:rPr lang="en-US" sz="1800" dirty="0">
                <a:solidFill>
                  <a:schemeClr val="bg1"/>
                </a:solidFill>
              </a:rPr>
              <a:t>6 fallos reales y ninguno tumbó la aplicación (RF09)</a:t>
            </a:r>
            <a:endParaRPr lang="en-US" sz="1800" dirty="0"/>
          </a:p>
        </p:txBody>
      </p:sp>
      <p:sp>
        <p:nvSpPr>
          <p:cNvPr id="13" name="circulo-262"/>
          <p:cNvSpPr/>
          <p:nvPr/>
        </p:nvSpPr>
        <p:spPr>
          <a:xfrm>
            <a:off x="548640" y="3703320"/>
            <a:ext cx="548640" cy="548640"/>
          </a:xfrm>
          <a:prstGeom prst="ellipse">
            <a:avLst/>
          </a:prstGeom>
          <a:solidFill>
            <a:schemeClr val="accent3"/>
          </a:solidFill>
          <a:ln/>
        </p:spPr>
      </p:sp>
      <p:pic>
        <p:nvPicPr>
          <p:cNvPr id="14" name="icono-263" descr="preencoded.png">    </p:cNvPr>
          <p:cNvPicPr>
            <a:picLocks noChangeAspect="1"/>
          </p:cNvPicPr>
          <p:nvPr/>
        </p:nvPicPr>
        <p:blipFill>
          <a:blip r:embed="rId4"/>
          <a:stretch>
            <a:fillRect/>
          </a:stretch>
        </p:blipFill>
        <p:spPr>
          <a:xfrm>
            <a:off x="669341" y="3824021"/>
            <a:ext cx="307238" cy="307238"/>
          </a:xfrm>
          <a:prstGeom prst="rect">
            <a:avLst/>
          </a:prstGeom>
        </p:spPr>
      </p:pic>
      <p:sp>
        <p:nvSpPr>
          <p:cNvPr id="15" name="texto-264"/>
          <p:cNvSpPr txBox="1"/>
          <p:nvPr/>
        </p:nvSpPr>
        <p:spPr>
          <a:xfrm>
            <a:off x="1325880" y="3703320"/>
            <a:ext cx="7315200" cy="548640"/>
          </a:xfrm>
          <a:prstGeom prst="rect">
            <a:avLst/>
          </a:prstGeom>
          <a:noFill/>
          <a:ln/>
        </p:spPr>
        <p:txBody>
          <a:bodyPr wrap="square" lIns="0" tIns="0" rIns="0" bIns="0" rtlCol="0" anchor="ctr"/>
          <a:lstStyle/>
          <a:p>
            <a:pPr indent="0" marL="0">
              <a:buNone/>
            </a:pPr>
            <a:r>
              <a:rPr lang="en-US" sz="1800" dirty="0">
                <a:solidFill>
                  <a:schemeClr val="bg1"/>
                </a:solidFill>
              </a:rPr>
              <a:t>Siguiente paso: escalar a varios dispositivos con una cola de mensajes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1"/>
                </a:solidFill>
              </a:rPr>
              <a:t>Referencias (APA 7)</a:t>
            </a:r>
            <a:endParaRPr lang="en-US" sz="3600" dirty="0"/>
          </a:p>
        </p:txBody>
      </p:sp>
      <p:sp>
        <p:nvSpPr>
          <p:cNvPr id="4" name="Text 0"/>
          <p:cNvSpPr/>
          <p:nvPr>
            <p:ph idx="101" type="body" hasCustomPrompt="1"/>
          </p:nvPr>
        </p:nvSpPr>
        <p:spPr>
          <a:xfrm>
            <a:off x="457200" y="1143000"/>
            <a:ext cx="8229600" cy="269748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Martinez Barrera, C. (2026). </a:t>
            </a:r>
            <a:pPr indent="0" marL="0">
              <a:spcAft>
                <a:spcPts val="1000"/>
              </a:spcAft>
              <a:buNone/>
            </a:pPr>
            <a:r>
              <a:rPr lang="en-US" sz="1400" i="1" dirty="0">
                <a:solidFill>
                  <a:schemeClr val="tx1"/>
                </a:solidFill>
              </a:rPr>
              <a:t>Evaluación segundo corte — Integración de Sistemas de Información 2026-2</a:t>
            </a:r>
            <a:pPr indent="0" marL="0">
              <a:spcAft>
                <a:spcPts val="1000"/>
              </a:spcAft>
              <a:buNone/>
            </a:pPr>
            <a:r>
              <a:rPr lang="en-US" sz="1400" dirty="0">
                <a:solidFill>
                  <a:schemeClr val="tx1"/>
                </a:solidFill>
              </a:rPr>
              <a:t> [Guía de práctica]. Universidad Santo Tomás.</a:t>
            </a:r>
            <a:endParaRPr lang="en-US" sz="1400" dirty="0"/>
          </a:p>
          <a:p>
            <a:pPr indent="0" marL="0">
              <a:spcAft>
                <a:spcPts val="1000"/>
              </a:spcAft>
              <a:buNone/>
            </a:pPr>
            <a:r>
              <a:rPr lang="en-US" sz="1400" dirty="0">
                <a:solidFill>
                  <a:schemeClr val="tx1"/>
                </a:solidFill>
              </a:rPr>
              <a:t>Python Software Foundation. (2026). </a:t>
            </a:r>
            <a:pPr indent="0" marL="0">
              <a:spcAft>
                <a:spcPts val="1000"/>
              </a:spcAft>
              <a:buNone/>
            </a:pPr>
            <a:r>
              <a:rPr lang="en-US" sz="1400" i="1" dirty="0">
                <a:solidFill>
                  <a:schemeClr val="tx1"/>
                </a:solidFill>
              </a:rPr>
              <a:t>Python 3 documentation</a:t>
            </a:r>
            <a:pPr indent="0" marL="0">
              <a:spcAft>
                <a:spcPts val="1000"/>
              </a:spcAft>
              <a:buNone/>
            </a:pPr>
            <a:r>
              <a:rPr lang="en-US" sz="1400" dirty="0">
                <a:solidFill>
                  <a:schemeClr val="tx1"/>
                </a:solidFill>
              </a:rPr>
              <a:t>. https://docs.python.org/3/</a:t>
            </a:r>
            <a:endParaRPr lang="en-US" sz="1400" dirty="0"/>
          </a:p>
          <a:p>
            <a:pPr indent="0" marL="0">
              <a:spcAft>
                <a:spcPts val="1000"/>
              </a:spcAft>
              <a:buNone/>
            </a:pPr>
            <a:r>
              <a:rPr lang="en-US" sz="1400" dirty="0">
                <a:solidFill>
                  <a:schemeClr val="tx1"/>
                </a:solidFill>
              </a:rPr>
              <a:t>Rodola, G. (2026). </a:t>
            </a:r>
            <a:pPr indent="0" marL="0">
              <a:spcAft>
                <a:spcPts val="1000"/>
              </a:spcAft>
              <a:buNone/>
            </a:pPr>
            <a:r>
              <a:rPr lang="en-US" sz="1400" i="1" dirty="0">
                <a:solidFill>
                  <a:schemeClr val="tx1"/>
                </a:solidFill>
              </a:rPr>
              <a:t>psutil documentation</a:t>
            </a:r>
            <a:pPr indent="0" marL="0">
              <a:spcAft>
                <a:spcPts val="1000"/>
              </a:spcAft>
              <a:buNone/>
            </a:pPr>
            <a:r>
              <a:rPr lang="en-US" sz="1400" dirty="0">
                <a:solidFill>
                  <a:schemeClr val="tx1"/>
                </a:solidFill>
              </a:rPr>
              <a:t>. https://psutil.readthedocs.io/</a:t>
            </a:r>
            <a:endParaRPr lang="en-US" sz="1400" dirty="0"/>
          </a:p>
          <a:p>
            <a:pPr indent="0" marL="0">
              <a:spcAft>
                <a:spcPts val="1000"/>
              </a:spcAft>
              <a:buNone/>
            </a:pPr>
            <a:r>
              <a:rPr lang="en-US" sz="1400" dirty="0">
                <a:solidFill>
                  <a:schemeClr val="tx1"/>
                </a:solidFill>
              </a:rPr>
              <a:t>Microsoft. (2026). </a:t>
            </a:r>
            <a:pPr indent="0" marL="0">
              <a:spcAft>
                <a:spcPts val="1000"/>
              </a:spcAft>
              <a:buNone/>
            </a:pPr>
            <a:r>
              <a:rPr lang="en-US" sz="1400" i="1" dirty="0">
                <a:solidFill>
                  <a:schemeClr val="tx1"/>
                </a:solidFill>
              </a:rPr>
              <a:t>Windows Sockets error codes</a:t>
            </a:r>
            <a:pPr indent="0" marL="0">
              <a:spcAft>
                <a:spcPts val="1000"/>
              </a:spcAft>
              <a:buNone/>
            </a:pPr>
            <a:r>
              <a:rPr lang="en-US" sz="1400" dirty="0">
                <a:solidFill>
                  <a:schemeClr val="tx1"/>
                </a:solidFill>
              </a:rPr>
              <a:t>. Microsoft Learn. https://learn.microsoft.com/windows/win32/winsock/windows-sockets-error-codes-2</a:t>
            </a:r>
            <a:endParaRPr lang="en-US" sz="1400" dirty="0"/>
          </a:p>
        </p:txBody>
      </p:sp>
      <p:sp>
        <p:nvSpPr>
          <p:cNvPr id="5" name="tarjeta-265"/>
          <p:cNvSpPr/>
          <p:nvPr/>
        </p:nvSpPr>
        <p:spPr>
          <a:xfrm>
            <a:off x="457200" y="3931920"/>
            <a:ext cx="8229600" cy="685800"/>
          </a:xfrm>
          <a:prstGeom prst="roundRect">
            <a:avLst>
              <a:gd name="adj" fmla="val 13333"/>
            </a:avLst>
          </a:prstGeom>
          <a:solidFill>
            <a:schemeClr val="bg2"/>
          </a:solidFill>
          <a:ln/>
        </p:spPr>
      </p:sp>
      <p:sp>
        <p:nvSpPr>
          <p:cNvPr id="6" name="circulo-266"/>
          <p:cNvSpPr/>
          <p:nvPr/>
        </p:nvSpPr>
        <p:spPr>
          <a:xfrm>
            <a:off x="594360" y="4041648"/>
            <a:ext cx="457200" cy="457200"/>
          </a:xfrm>
          <a:prstGeom prst="ellipse">
            <a:avLst/>
          </a:prstGeom>
          <a:solidFill>
            <a:schemeClr val="tx1"/>
          </a:solidFill>
          <a:ln/>
        </p:spPr>
      </p:sp>
      <p:pic>
        <p:nvPicPr>
          <p:cNvPr id="7" name="icono-267" descr="preencoded.png">    </p:cNvPr>
          <p:cNvPicPr>
            <a:picLocks noChangeAspect="1"/>
          </p:cNvPicPr>
          <p:nvPr/>
        </p:nvPicPr>
        <p:blipFill>
          <a:blip r:embed="rId1"/>
          <a:stretch>
            <a:fillRect/>
          </a:stretch>
        </p:blipFill>
        <p:spPr>
          <a:xfrm>
            <a:off x="694944" y="4142232"/>
            <a:ext cx="256032" cy="256032"/>
          </a:xfrm>
          <a:prstGeom prst="rect">
            <a:avLst/>
          </a:prstGeom>
        </p:spPr>
      </p:pic>
      <p:sp>
        <p:nvSpPr>
          <p:cNvPr id="8" name="texto-268"/>
          <p:cNvSpPr txBox="1"/>
          <p:nvPr/>
        </p:nvSpPr>
        <p:spPr>
          <a:xfrm>
            <a:off x="1188720" y="3931920"/>
            <a:ext cx="7406640" cy="685800"/>
          </a:xfrm>
          <a:prstGeom prst="rect">
            <a:avLst/>
          </a:prstGeom>
          <a:noFill/>
          <a:ln/>
        </p:spPr>
        <p:txBody>
          <a:bodyPr wrap="square" lIns="0" tIns="0" rIns="0" bIns="0" rtlCol="0" anchor="ctr"/>
          <a:lstStyle/>
          <a:p>
            <a:pPr indent="0" marL="0">
              <a:buNone/>
            </a:pPr>
            <a:r>
              <a:rPr lang="en-US" sz="1400" dirty="0">
                <a:solidFill>
                  <a:schemeClr val="tx1"/>
                </a:solidFill>
              </a:rPr>
              <a:t>Código, pruebas, evidencia y documento técnico: github.com/Facabore/practica-hsf-segundo-corte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ractica HSF">
  <a:themeElements>
    <a:clrScheme name="Practica HSF">
      <a:dk1>
        <a:srgbClr val="1B1F2A"/>
      </a:dk1>
      <a:lt1>
        <a:srgbClr val="FFFFFF"/>
      </a:lt1>
      <a:dk2>
        <a:srgbClr val="263238"/>
      </a:dk2>
      <a:lt2>
        <a:srgbClr val="ECEFF1"/>
      </a:lt2>
      <a:accent1>
        <a:srgbClr val="EF6C00"/>
      </a:accent1>
      <a:accent2>
        <a:srgbClr val="1565C0"/>
      </a:accent2>
      <a:accent3>
        <a:srgbClr val="5E35B1"/>
      </a:accent3>
      <a:accent4>
        <a:srgbClr val="2E7D32"/>
      </a:accent4>
      <a:accent5>
        <a:srgbClr val="8D6E63"/>
      </a:accent5>
      <a:accent6>
        <a:srgbClr val="C62828"/>
      </a:accent6>
      <a:hlink>
        <a:srgbClr val="1565C0"/>
      </a:hlink>
      <a:folHlink>
        <a:srgbClr val="5E35B1"/>
      </a:folHlink>
    </a:clrScheme>
    <a:fontScheme name="Practica HS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Práctica HSF — Segundo corte</dc:title>
  <dc:subject>Integración de Sistemas de Información 2026-2</dc:subject>
  <dc:creator>[NombreEstudiante]</dc:creator>
  <cp:lastModifiedBy>[NombreEstudiante]</cp:lastModifiedBy>
  <cp:revision>1</cp:revision>
  <dcterms:created xsi:type="dcterms:W3CDTF">2026-10-14T04:22:36Z</dcterms:created>
  <dcterms:modified xsi:type="dcterms:W3CDTF">2026-10-14T04:22:36Z</dcterms:modified>
</cp:coreProperties>
</file>