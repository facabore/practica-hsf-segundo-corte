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f9af3a3-119a-047f-c92e-6b29b734e9b5}">
          <p14:sldIdLst>
            <p14:sldId id="256"/>
          </p14:sldIdLst>
        </p14:section>
        <p14:section name="Arquitectura" id="{a34c86af-43b2-6975-fcdd-c9080eb8dbef}">
          <p14:sldIdLst>
            <p14:sldId id="257"/>
            <p14:sldId id="258"/>
          </p14:sldIdLst>
        </p14:section>
        <p14:section name="Implementación" id="{791ce639-5182-ea96-b5ac-62c3e28745a4}">
          <p14:sldIdLst>
            <p14:sldId id="259"/>
            <p14:sldId id="260"/>
            <p14:sldId id="261"/>
            <p14:sldId id="262"/>
          </p14:sldIdLst>
        </p14:section>
        <p14:section name="Validación" id="{61c9f881-0ccd-503d-12de-b39067d4c726}">
          <p14:sldIdLst>
            <p14:sldId id="263"/>
            <p14:sldId id="264"/>
            <p14:sldId id="265"/>
          </p14:sldIdLst>
        </p14:section>
        <p14:section name="Preguntas" id="{fd60c503-d443-0b5e-1a05-e34f1ea41fb4}">
          <p14:sldIdLst>
            <p14:sldId id="266"/>
            <p14:sldId id="267"/>
          </p14:sldIdLst>
        </p14:section>
        <p14:section name="Cierre" id="{4cb7791a-28f3-9dd1-1539-ba9bb958c868}">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con "python firmware/firmware_simulador.py" corriendo y las tramas JSON visibles]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64 en verde; luego docs/Matriz_Pruebas.md]
El proyecto tiene sesenta y cuatro pruebas automáticas con pytest, escritas con test primero, implementación después — es decir, TDD real. Las voy a correr ahora mismo [ejecutar pytest tests/ -v en pantalla]. Como se ve, las sesenta y cuatro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logs/sistema.log y el fallo 6 de docs/Fallos_Controlados.md]
Ahora lo más importante: qué pasa cuando algo falla. Desde este panel provoco fallos reales. Fuerzo una anomalía y aparece el punto rojo. Mando un dato corrupto y un valor fuera de rango: suben los contadores, y el sistema sigue leyendo. Ahora detengo el firmware: el estado pasa a reconectando y en el registro se ven los reintentos con espera creciente. Lo reinicio,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con cien dispositivos simultáneos, necesitaría un servidor asíncrono y probablemente una cola de mensajes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único de falla es el socket hacia un único firmware;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La limitación más clara es la escala: hoy funciona para un dispositivo a la vez, y ahí es donde apuntaría el siguiente esfuerzo de ingeniería.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64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64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64</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13"/>
          <p:cNvSpPr/>
          <p:nvPr/>
        </p:nvSpPr>
        <p:spPr>
          <a:xfrm>
            <a:off x="457200" y="1143000"/>
            <a:ext cx="2560320" cy="1554480"/>
          </a:xfrm>
          <a:prstGeom prst="roundRect">
            <a:avLst>
              <a:gd name="adj" fmla="val 5882"/>
            </a:avLst>
          </a:prstGeom>
          <a:solidFill>
            <a:schemeClr val="bg2"/>
          </a:solidFill>
          <a:ln/>
        </p:spPr>
      </p:sp>
      <p:sp>
        <p:nvSpPr>
          <p:cNvPr id="5" name="circulo-114"/>
          <p:cNvSpPr/>
          <p:nvPr/>
        </p:nvSpPr>
        <p:spPr>
          <a:xfrm>
            <a:off x="640080" y="1325880"/>
            <a:ext cx="411480" cy="411480"/>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16"/>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17"/>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18"/>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19"/>
          <p:cNvSpPr/>
          <p:nvPr/>
        </p:nvSpPr>
        <p:spPr>
          <a:xfrm>
            <a:off x="3291840" y="1143000"/>
            <a:ext cx="2560320" cy="1554480"/>
          </a:xfrm>
          <a:prstGeom prst="roundRect">
            <a:avLst>
              <a:gd name="adj" fmla="val 5882"/>
            </a:avLst>
          </a:prstGeom>
          <a:solidFill>
            <a:schemeClr val="bg2"/>
          </a:solidFill>
          <a:ln/>
        </p:spPr>
      </p:sp>
      <p:sp>
        <p:nvSpPr>
          <p:cNvPr id="11" name="circulo-120"/>
          <p:cNvSpPr/>
          <p:nvPr/>
        </p:nvSpPr>
        <p:spPr>
          <a:xfrm>
            <a:off x="3474720" y="1325880"/>
            <a:ext cx="411480" cy="411480"/>
          </a:xfrm>
          <a:prstGeom prst="ellipse">
            <a:avLst/>
          </a:prstGeom>
          <a:solidFill>
            <a:schemeClr val="accent2"/>
          </a:solidFill>
          <a:ln/>
        </p:spPr>
      </p:sp>
      <p:pic>
        <p:nvPicPr>
          <p:cNvPr id="12" name="icono-121"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22"/>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23"/>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24"/>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25"/>
          <p:cNvSpPr/>
          <p:nvPr/>
        </p:nvSpPr>
        <p:spPr>
          <a:xfrm>
            <a:off x="6126480" y="1143000"/>
            <a:ext cx="2560320" cy="1554480"/>
          </a:xfrm>
          <a:prstGeom prst="roundRect">
            <a:avLst>
              <a:gd name="adj" fmla="val 5882"/>
            </a:avLst>
          </a:prstGeom>
          <a:solidFill>
            <a:schemeClr val="bg2"/>
          </a:solidFill>
          <a:ln/>
        </p:spPr>
      </p:sp>
      <p:sp>
        <p:nvSpPr>
          <p:cNvPr id="17" name="circulo-126"/>
          <p:cNvSpPr/>
          <p:nvPr/>
        </p:nvSpPr>
        <p:spPr>
          <a:xfrm>
            <a:off x="6309360" y="1325880"/>
            <a:ext cx="411480" cy="411480"/>
          </a:xfrm>
          <a:prstGeom prst="ellipse">
            <a:avLst/>
          </a:prstGeom>
          <a:solidFill>
            <a:schemeClr val="accent2"/>
          </a:solidFill>
          <a:ln/>
        </p:spPr>
      </p:sp>
      <p:pic>
        <p:nvPicPr>
          <p:cNvPr id="18" name="icono-127"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28"/>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29"/>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30"/>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31"/>
          <p:cNvSpPr/>
          <p:nvPr/>
        </p:nvSpPr>
        <p:spPr>
          <a:xfrm>
            <a:off x="457200" y="2926080"/>
            <a:ext cx="2560320" cy="1554480"/>
          </a:xfrm>
          <a:prstGeom prst="roundRect">
            <a:avLst>
              <a:gd name="adj" fmla="val 5882"/>
            </a:avLst>
          </a:prstGeom>
          <a:solidFill>
            <a:schemeClr val="bg2"/>
          </a:solidFill>
          <a:ln/>
        </p:spPr>
      </p:sp>
      <p:sp>
        <p:nvSpPr>
          <p:cNvPr id="23" name="circulo-132"/>
          <p:cNvSpPr/>
          <p:nvPr/>
        </p:nvSpPr>
        <p:spPr>
          <a:xfrm>
            <a:off x="640080" y="3108960"/>
            <a:ext cx="411480" cy="411480"/>
          </a:xfrm>
          <a:prstGeom prst="ellipse">
            <a:avLst/>
          </a:prstGeom>
          <a:solidFill>
            <a:schemeClr val="accent3"/>
          </a:solidFill>
          <a:ln/>
        </p:spPr>
      </p:sp>
      <p:pic>
        <p:nvPicPr>
          <p:cNvPr id="24" name="icono-133"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34"/>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35"/>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36"/>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37"/>
          <p:cNvSpPr/>
          <p:nvPr/>
        </p:nvSpPr>
        <p:spPr>
          <a:xfrm>
            <a:off x="3291840" y="2926080"/>
            <a:ext cx="2560320" cy="1554480"/>
          </a:xfrm>
          <a:prstGeom prst="roundRect">
            <a:avLst>
              <a:gd name="adj" fmla="val 5882"/>
            </a:avLst>
          </a:prstGeom>
          <a:solidFill>
            <a:schemeClr val="bg2"/>
          </a:solidFill>
          <a:ln/>
        </p:spPr>
      </p:sp>
      <p:sp>
        <p:nvSpPr>
          <p:cNvPr id="29" name="circulo-138"/>
          <p:cNvSpPr/>
          <p:nvPr/>
        </p:nvSpPr>
        <p:spPr>
          <a:xfrm>
            <a:off x="3474720" y="3108960"/>
            <a:ext cx="411480" cy="411480"/>
          </a:xfrm>
          <a:prstGeom prst="ellipse">
            <a:avLst/>
          </a:prstGeom>
          <a:solidFill>
            <a:schemeClr val="accent4"/>
          </a:solidFill>
          <a:ln/>
        </p:spPr>
      </p:sp>
      <p:pic>
        <p:nvPicPr>
          <p:cNvPr id="30" name="icono-139"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40"/>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41"/>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42"/>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43"/>
          <p:cNvSpPr/>
          <p:nvPr/>
        </p:nvSpPr>
        <p:spPr>
          <a:xfrm>
            <a:off x="6126480" y="2926080"/>
            <a:ext cx="2560320" cy="1554480"/>
          </a:xfrm>
          <a:prstGeom prst="roundRect">
            <a:avLst>
              <a:gd name="adj" fmla="val 5882"/>
            </a:avLst>
          </a:prstGeom>
          <a:solidFill>
            <a:schemeClr val="bg2"/>
          </a:solidFill>
          <a:ln/>
        </p:spPr>
      </p:sp>
      <p:sp>
        <p:nvSpPr>
          <p:cNvPr id="35" name="circulo-144"/>
          <p:cNvSpPr/>
          <p:nvPr/>
        </p:nvSpPr>
        <p:spPr>
          <a:xfrm>
            <a:off x="6309360" y="3108960"/>
            <a:ext cx="411480" cy="411480"/>
          </a:xfrm>
          <a:prstGeom prst="ellipse">
            <a:avLst/>
          </a:prstGeom>
          <a:solidFill>
            <a:schemeClr val="accent1"/>
          </a:solidFill>
          <a:ln/>
        </p:spPr>
      </p:sp>
      <p:pic>
        <p:nvPicPr>
          <p:cNvPr id="36" name="icono-145"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46"/>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47"/>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48"/>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49"/>
          <p:cNvSpPr/>
          <p:nvPr/>
        </p:nvSpPr>
        <p:spPr>
          <a:xfrm>
            <a:off x="457200" y="1143000"/>
            <a:ext cx="2560320" cy="1234440"/>
          </a:xfrm>
          <a:prstGeom prst="roundRect">
            <a:avLst>
              <a:gd name="adj" fmla="val 7407"/>
            </a:avLst>
          </a:prstGeom>
          <a:solidFill>
            <a:schemeClr val="bg2"/>
          </a:solidFill>
          <a:ln/>
        </p:spPr>
      </p:sp>
      <p:sp>
        <p:nvSpPr>
          <p:cNvPr id="5" name="texto-150"/>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51"/>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52"/>
          <p:cNvSpPr/>
          <p:nvPr/>
        </p:nvSpPr>
        <p:spPr>
          <a:xfrm>
            <a:off x="3291840" y="1143000"/>
            <a:ext cx="2560320" cy="1234440"/>
          </a:xfrm>
          <a:prstGeom prst="roundRect">
            <a:avLst>
              <a:gd name="adj" fmla="val 7407"/>
            </a:avLst>
          </a:prstGeom>
          <a:solidFill>
            <a:schemeClr val="bg2"/>
          </a:solidFill>
          <a:ln/>
        </p:spPr>
      </p:sp>
      <p:sp>
        <p:nvSpPr>
          <p:cNvPr id="8" name="texto-153"/>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54"/>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55"/>
          <p:cNvSpPr/>
          <p:nvPr/>
        </p:nvSpPr>
        <p:spPr>
          <a:xfrm>
            <a:off x="6126480" y="1143000"/>
            <a:ext cx="2560320" cy="1234440"/>
          </a:xfrm>
          <a:prstGeom prst="roundRect">
            <a:avLst>
              <a:gd name="adj" fmla="val 7407"/>
            </a:avLst>
          </a:prstGeom>
          <a:solidFill>
            <a:schemeClr val="bg2"/>
          </a:solidFill>
          <a:ln/>
        </p:spPr>
      </p:sp>
      <p:sp>
        <p:nvSpPr>
          <p:cNvPr id="11" name="texto-156"/>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57"/>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8" name="tabla-csv-158"/>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59"/>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9" name="tabla-matriz-16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61"/>
          <p:cNvSpPr/>
          <p:nvPr/>
        </p:nvSpPr>
        <p:spPr>
          <a:xfrm>
            <a:off x="457200" y="4069080"/>
            <a:ext cx="411480" cy="411480"/>
          </a:xfrm>
          <a:prstGeom prst="ellipse">
            <a:avLst/>
          </a:prstGeom>
          <a:solidFill>
            <a:schemeClr val="accent4"/>
          </a:solidFill>
          <a:ln/>
        </p:spPr>
      </p:sp>
      <p:pic>
        <p:nvPicPr>
          <p:cNvPr id="6" name="icono-162"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63"/>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64 de 64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64"/>
          <p:cNvSpPr/>
          <p:nvPr/>
        </p:nvSpPr>
        <p:spPr>
          <a:xfrm>
            <a:off x="457200" y="1143000"/>
            <a:ext cx="2560320" cy="1417320"/>
          </a:xfrm>
          <a:prstGeom prst="roundRect">
            <a:avLst>
              <a:gd name="adj" fmla="val 6452"/>
            </a:avLst>
          </a:prstGeom>
          <a:solidFill>
            <a:schemeClr val="bg2"/>
          </a:solidFill>
          <a:ln/>
        </p:spPr>
      </p:sp>
      <p:sp>
        <p:nvSpPr>
          <p:cNvPr id="5" name="numero-165"/>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66"/>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67"/>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68"/>
          <p:cNvSpPr/>
          <p:nvPr/>
        </p:nvSpPr>
        <p:spPr>
          <a:xfrm>
            <a:off x="3291840" y="1143000"/>
            <a:ext cx="2560320" cy="1417320"/>
          </a:xfrm>
          <a:prstGeom prst="roundRect">
            <a:avLst>
              <a:gd name="adj" fmla="val 6452"/>
            </a:avLst>
          </a:prstGeom>
          <a:solidFill>
            <a:schemeClr val="bg2"/>
          </a:solidFill>
          <a:ln/>
        </p:spPr>
      </p:sp>
      <p:sp>
        <p:nvSpPr>
          <p:cNvPr id="9" name="numero-169"/>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70"/>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171"/>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172"/>
          <p:cNvSpPr/>
          <p:nvPr/>
        </p:nvSpPr>
        <p:spPr>
          <a:xfrm>
            <a:off x="6126480" y="1143000"/>
            <a:ext cx="2560320" cy="1417320"/>
          </a:xfrm>
          <a:prstGeom prst="roundRect">
            <a:avLst>
              <a:gd name="adj" fmla="val 6452"/>
            </a:avLst>
          </a:prstGeom>
          <a:solidFill>
            <a:schemeClr val="bg2"/>
          </a:solidFill>
          <a:ln/>
        </p:spPr>
      </p:sp>
      <p:sp>
        <p:nvSpPr>
          <p:cNvPr id="13" name="numero-173"/>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174"/>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175"/>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176"/>
          <p:cNvSpPr/>
          <p:nvPr/>
        </p:nvSpPr>
        <p:spPr>
          <a:xfrm>
            <a:off x="457200" y="2788920"/>
            <a:ext cx="2560320" cy="1417320"/>
          </a:xfrm>
          <a:prstGeom prst="roundRect">
            <a:avLst>
              <a:gd name="adj" fmla="val 6452"/>
            </a:avLst>
          </a:prstGeom>
          <a:solidFill>
            <a:schemeClr val="bg2"/>
          </a:solidFill>
          <a:ln/>
        </p:spPr>
      </p:sp>
      <p:sp>
        <p:nvSpPr>
          <p:cNvPr id="17" name="numero-177"/>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178"/>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179"/>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180"/>
          <p:cNvSpPr/>
          <p:nvPr/>
        </p:nvSpPr>
        <p:spPr>
          <a:xfrm>
            <a:off x="3291840" y="2788920"/>
            <a:ext cx="2560320" cy="1417320"/>
          </a:xfrm>
          <a:prstGeom prst="roundRect">
            <a:avLst>
              <a:gd name="adj" fmla="val 6452"/>
            </a:avLst>
          </a:prstGeom>
          <a:solidFill>
            <a:schemeClr val="bg2"/>
          </a:solidFill>
          <a:ln/>
        </p:spPr>
      </p:sp>
      <p:sp>
        <p:nvSpPr>
          <p:cNvPr id="21" name="numero-181"/>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182"/>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183"/>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184"/>
          <p:cNvSpPr/>
          <p:nvPr/>
        </p:nvSpPr>
        <p:spPr>
          <a:xfrm>
            <a:off x="6126480" y="2788920"/>
            <a:ext cx="2560320" cy="1417320"/>
          </a:xfrm>
          <a:prstGeom prst="roundRect">
            <a:avLst>
              <a:gd name="adj" fmla="val 6452"/>
            </a:avLst>
          </a:prstGeom>
          <a:solidFill>
            <a:schemeClr val="accent4"/>
          </a:solidFill>
          <a:ln/>
        </p:spPr>
      </p:sp>
      <p:sp>
        <p:nvSpPr>
          <p:cNvPr id="25" name="numero-185"/>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186"/>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187"/>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188"/>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189"/>
          <p:cNvSpPr/>
          <p:nvPr/>
        </p:nvSpPr>
        <p:spPr>
          <a:xfrm>
            <a:off x="457200" y="1097280"/>
            <a:ext cx="3977640" cy="1325880"/>
          </a:xfrm>
          <a:prstGeom prst="roundRect">
            <a:avLst>
              <a:gd name="adj" fmla="val 6897"/>
            </a:avLst>
          </a:prstGeom>
          <a:solidFill>
            <a:schemeClr val="bg2"/>
          </a:solidFill>
          <a:ln/>
        </p:spPr>
      </p:sp>
      <p:sp>
        <p:nvSpPr>
          <p:cNvPr id="5" name="texto-190"/>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191"/>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192"/>
          <p:cNvSpPr/>
          <p:nvPr/>
        </p:nvSpPr>
        <p:spPr>
          <a:xfrm>
            <a:off x="4709160" y="1097280"/>
            <a:ext cx="3977640" cy="1325880"/>
          </a:xfrm>
          <a:prstGeom prst="roundRect">
            <a:avLst>
              <a:gd name="adj" fmla="val 6897"/>
            </a:avLst>
          </a:prstGeom>
          <a:solidFill>
            <a:schemeClr val="bg2"/>
          </a:solidFill>
          <a:ln/>
        </p:spPr>
      </p:sp>
      <p:sp>
        <p:nvSpPr>
          <p:cNvPr id="8" name="texto-193"/>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194"/>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195"/>
          <p:cNvSpPr/>
          <p:nvPr/>
        </p:nvSpPr>
        <p:spPr>
          <a:xfrm>
            <a:off x="457200" y="2606040"/>
            <a:ext cx="3977640" cy="1325880"/>
          </a:xfrm>
          <a:prstGeom prst="roundRect">
            <a:avLst>
              <a:gd name="adj" fmla="val 6897"/>
            </a:avLst>
          </a:prstGeom>
          <a:solidFill>
            <a:schemeClr val="bg2"/>
          </a:solidFill>
          <a:ln/>
        </p:spPr>
      </p:sp>
      <p:sp>
        <p:nvSpPr>
          <p:cNvPr id="11" name="texto-196"/>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197"/>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198"/>
          <p:cNvSpPr/>
          <p:nvPr/>
        </p:nvSpPr>
        <p:spPr>
          <a:xfrm>
            <a:off x="4709160" y="2606040"/>
            <a:ext cx="3977640" cy="1325880"/>
          </a:xfrm>
          <a:prstGeom prst="roundRect">
            <a:avLst>
              <a:gd name="adj" fmla="val 6897"/>
            </a:avLst>
          </a:prstGeom>
          <a:solidFill>
            <a:schemeClr val="bg2"/>
          </a:solidFill>
          <a:ln/>
        </p:spPr>
      </p:sp>
      <p:sp>
        <p:nvSpPr>
          <p:cNvPr id="14" name="texto-199"/>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00"/>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01"/>
          <p:cNvSpPr/>
          <p:nvPr/>
        </p:nvSpPr>
        <p:spPr>
          <a:xfrm>
            <a:off x="457200" y="4114800"/>
            <a:ext cx="8229600" cy="502920"/>
          </a:xfrm>
          <a:prstGeom prst="roundRect">
            <a:avLst>
              <a:gd name="adj" fmla="val 18182"/>
            </a:avLst>
          </a:prstGeom>
          <a:solidFill>
            <a:schemeClr val="bg2"/>
          </a:solidFill>
          <a:ln/>
        </p:spPr>
      </p:sp>
      <p:sp>
        <p:nvSpPr>
          <p:cNvPr id="17" name="circulo-202"/>
          <p:cNvSpPr/>
          <p:nvPr/>
        </p:nvSpPr>
        <p:spPr>
          <a:xfrm>
            <a:off x="594360" y="4178808"/>
            <a:ext cx="365760" cy="365760"/>
          </a:xfrm>
          <a:prstGeom prst="ellipse">
            <a:avLst/>
          </a:prstGeom>
          <a:solidFill>
            <a:schemeClr val="accent6"/>
          </a:solidFill>
          <a:ln/>
        </p:spPr>
      </p:sp>
      <p:pic>
        <p:nvPicPr>
          <p:cNvPr id="18" name="icono-203"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04"/>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05"/>
          <p:cNvSpPr/>
          <p:nvPr/>
        </p:nvSpPr>
        <p:spPr>
          <a:xfrm>
            <a:off x="457200" y="1097280"/>
            <a:ext cx="3977640" cy="1005840"/>
          </a:xfrm>
          <a:prstGeom prst="roundRect">
            <a:avLst>
              <a:gd name="adj" fmla="val 9091"/>
            </a:avLst>
          </a:prstGeom>
          <a:solidFill>
            <a:schemeClr val="bg2"/>
          </a:solidFill>
          <a:ln/>
        </p:spPr>
      </p:sp>
      <p:sp>
        <p:nvSpPr>
          <p:cNvPr id="5" name="numero-206"/>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07"/>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08"/>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09"/>
          <p:cNvSpPr/>
          <p:nvPr/>
        </p:nvSpPr>
        <p:spPr>
          <a:xfrm>
            <a:off x="4709160" y="1097280"/>
            <a:ext cx="3977640" cy="1005840"/>
          </a:xfrm>
          <a:prstGeom prst="roundRect">
            <a:avLst>
              <a:gd name="adj" fmla="val 9091"/>
            </a:avLst>
          </a:prstGeom>
          <a:solidFill>
            <a:schemeClr val="bg2"/>
          </a:solidFill>
          <a:ln/>
        </p:spPr>
      </p:sp>
      <p:sp>
        <p:nvSpPr>
          <p:cNvPr id="9" name="numero-210"/>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11"/>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12"/>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13"/>
          <p:cNvSpPr/>
          <p:nvPr/>
        </p:nvSpPr>
        <p:spPr>
          <a:xfrm>
            <a:off x="457200" y="2240280"/>
            <a:ext cx="3977640" cy="1005840"/>
          </a:xfrm>
          <a:prstGeom prst="roundRect">
            <a:avLst>
              <a:gd name="adj" fmla="val 9091"/>
            </a:avLst>
          </a:prstGeom>
          <a:solidFill>
            <a:schemeClr val="bg2"/>
          </a:solidFill>
          <a:ln/>
        </p:spPr>
      </p:sp>
      <p:sp>
        <p:nvSpPr>
          <p:cNvPr id="13" name="numero-214"/>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15"/>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16"/>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17"/>
          <p:cNvSpPr/>
          <p:nvPr/>
        </p:nvSpPr>
        <p:spPr>
          <a:xfrm>
            <a:off x="4709160" y="2240280"/>
            <a:ext cx="3977640" cy="1005840"/>
          </a:xfrm>
          <a:prstGeom prst="roundRect">
            <a:avLst>
              <a:gd name="adj" fmla="val 9091"/>
            </a:avLst>
          </a:prstGeom>
          <a:solidFill>
            <a:schemeClr val="bg2"/>
          </a:solidFill>
          <a:ln/>
        </p:spPr>
      </p:sp>
      <p:sp>
        <p:nvSpPr>
          <p:cNvPr id="17" name="numero-218"/>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19"/>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20"/>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21"/>
          <p:cNvSpPr/>
          <p:nvPr/>
        </p:nvSpPr>
        <p:spPr>
          <a:xfrm>
            <a:off x="457200" y="3383280"/>
            <a:ext cx="3977640" cy="1005840"/>
          </a:xfrm>
          <a:prstGeom prst="roundRect">
            <a:avLst>
              <a:gd name="adj" fmla="val 9091"/>
            </a:avLst>
          </a:prstGeom>
          <a:solidFill>
            <a:schemeClr val="bg2"/>
          </a:solidFill>
          <a:ln/>
        </p:spPr>
      </p:sp>
      <p:sp>
        <p:nvSpPr>
          <p:cNvPr id="21" name="numero-222"/>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23"/>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24"/>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25"/>
          <p:cNvSpPr/>
          <p:nvPr/>
        </p:nvSpPr>
        <p:spPr>
          <a:xfrm>
            <a:off x="4709160" y="3383280"/>
            <a:ext cx="3977640" cy="1005840"/>
          </a:xfrm>
          <a:prstGeom prst="roundRect">
            <a:avLst>
              <a:gd name="adj" fmla="val 9091"/>
            </a:avLst>
          </a:prstGeom>
          <a:solidFill>
            <a:schemeClr val="bg2"/>
          </a:solidFill>
          <a:ln/>
        </p:spPr>
      </p:sp>
      <p:sp>
        <p:nvSpPr>
          <p:cNvPr id="25" name="numero-226"/>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27"/>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28"/>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Servidor asíncrono y cola de mensajes (MQTT) en vez de sockets directos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29"/>
          <p:cNvSpPr/>
          <p:nvPr/>
        </p:nvSpPr>
        <p:spPr>
          <a:xfrm>
            <a:off x="457200" y="1097280"/>
            <a:ext cx="3977640" cy="1005840"/>
          </a:xfrm>
          <a:prstGeom prst="roundRect">
            <a:avLst>
              <a:gd name="adj" fmla="val 9091"/>
            </a:avLst>
          </a:prstGeom>
          <a:solidFill>
            <a:schemeClr val="bg2"/>
          </a:solidFill>
          <a:ln/>
        </p:spPr>
      </p:sp>
      <p:sp>
        <p:nvSpPr>
          <p:cNvPr id="5" name="numero-230"/>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31"/>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32"/>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33"/>
          <p:cNvSpPr/>
          <p:nvPr/>
        </p:nvSpPr>
        <p:spPr>
          <a:xfrm>
            <a:off x="4709160" y="1097280"/>
            <a:ext cx="3977640" cy="1005840"/>
          </a:xfrm>
          <a:prstGeom prst="roundRect">
            <a:avLst>
              <a:gd name="adj" fmla="val 9091"/>
            </a:avLst>
          </a:prstGeom>
          <a:solidFill>
            <a:schemeClr val="bg2"/>
          </a:solidFill>
          <a:ln/>
        </p:spPr>
      </p:sp>
      <p:sp>
        <p:nvSpPr>
          <p:cNvPr id="9" name="numero-234"/>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35"/>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36"/>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37"/>
          <p:cNvSpPr/>
          <p:nvPr/>
        </p:nvSpPr>
        <p:spPr>
          <a:xfrm>
            <a:off x="457200" y="2240280"/>
            <a:ext cx="3977640" cy="1005840"/>
          </a:xfrm>
          <a:prstGeom prst="roundRect">
            <a:avLst>
              <a:gd name="adj" fmla="val 9091"/>
            </a:avLst>
          </a:prstGeom>
          <a:solidFill>
            <a:schemeClr val="bg2"/>
          </a:solidFill>
          <a:ln/>
        </p:spPr>
      </p:sp>
      <p:sp>
        <p:nvSpPr>
          <p:cNvPr id="13" name="numero-238"/>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39"/>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40"/>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41"/>
          <p:cNvSpPr/>
          <p:nvPr/>
        </p:nvSpPr>
        <p:spPr>
          <a:xfrm>
            <a:off x="4709160" y="2240280"/>
            <a:ext cx="3977640" cy="1005840"/>
          </a:xfrm>
          <a:prstGeom prst="roundRect">
            <a:avLst>
              <a:gd name="adj" fmla="val 9091"/>
            </a:avLst>
          </a:prstGeom>
          <a:solidFill>
            <a:schemeClr val="bg2"/>
          </a:solidFill>
          <a:ln/>
        </p:spPr>
      </p:sp>
      <p:sp>
        <p:nvSpPr>
          <p:cNvPr id="17" name="numero-242"/>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43"/>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44"/>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45"/>
          <p:cNvSpPr/>
          <p:nvPr/>
        </p:nvSpPr>
        <p:spPr>
          <a:xfrm>
            <a:off x="457200" y="3383280"/>
            <a:ext cx="3977640" cy="1005840"/>
          </a:xfrm>
          <a:prstGeom prst="roundRect">
            <a:avLst>
              <a:gd name="adj" fmla="val 9091"/>
            </a:avLst>
          </a:prstGeom>
          <a:solidFill>
            <a:schemeClr val="bg2"/>
          </a:solidFill>
          <a:ln/>
        </p:spPr>
      </p:sp>
      <p:sp>
        <p:nvSpPr>
          <p:cNvPr id="21" name="numero-246"/>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47"/>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48"/>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49"/>
          <p:cNvSpPr/>
          <p:nvPr/>
        </p:nvSpPr>
        <p:spPr>
          <a:xfrm>
            <a:off x="4709160" y="3383280"/>
            <a:ext cx="3977640" cy="1005840"/>
          </a:xfrm>
          <a:prstGeom prst="roundRect">
            <a:avLst>
              <a:gd name="adj" fmla="val 9091"/>
            </a:avLst>
          </a:prstGeom>
          <a:solidFill>
            <a:schemeClr val="bg2"/>
          </a:solidFill>
          <a:ln/>
        </p:spPr>
      </p:sp>
      <p:sp>
        <p:nvSpPr>
          <p:cNvPr id="25" name="numero-250"/>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51"/>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52"/>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un único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53"/>
          <p:cNvSpPr/>
          <p:nvPr/>
        </p:nvSpPr>
        <p:spPr>
          <a:xfrm>
            <a:off x="548640" y="1234440"/>
            <a:ext cx="548640" cy="548640"/>
          </a:xfrm>
          <a:prstGeom prst="ellipse">
            <a:avLst/>
          </a:prstGeom>
          <a:solidFill>
            <a:schemeClr val="accent4"/>
          </a:solidFill>
          <a:ln/>
        </p:spPr>
      </p:sp>
      <p:pic>
        <p:nvPicPr>
          <p:cNvPr id="5" name="icono-254"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55"/>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56"/>
          <p:cNvSpPr/>
          <p:nvPr/>
        </p:nvSpPr>
        <p:spPr>
          <a:xfrm>
            <a:off x="548640" y="2057400"/>
            <a:ext cx="548640" cy="548640"/>
          </a:xfrm>
          <a:prstGeom prst="ellipse">
            <a:avLst/>
          </a:prstGeom>
          <a:solidFill>
            <a:schemeClr val="accent1"/>
          </a:solidFill>
          <a:ln/>
        </p:spPr>
      </p:sp>
      <p:pic>
        <p:nvPicPr>
          <p:cNvPr id="8" name="icono-257"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58"/>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59"/>
          <p:cNvSpPr/>
          <p:nvPr/>
        </p:nvSpPr>
        <p:spPr>
          <a:xfrm>
            <a:off x="548640" y="2880360"/>
            <a:ext cx="548640" cy="548640"/>
          </a:xfrm>
          <a:prstGeom prst="ellipse">
            <a:avLst/>
          </a:prstGeom>
          <a:solidFill>
            <a:schemeClr val="accent2"/>
          </a:solidFill>
          <a:ln/>
        </p:spPr>
      </p:sp>
      <p:pic>
        <p:nvPicPr>
          <p:cNvPr id="11" name="icono-260"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61"/>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62"/>
          <p:cNvSpPr/>
          <p:nvPr/>
        </p:nvSpPr>
        <p:spPr>
          <a:xfrm>
            <a:off x="548640" y="3703320"/>
            <a:ext cx="548640" cy="548640"/>
          </a:xfrm>
          <a:prstGeom prst="ellipse">
            <a:avLst/>
          </a:prstGeom>
          <a:solidFill>
            <a:schemeClr val="accent3"/>
          </a:solidFill>
          <a:ln/>
        </p:spPr>
      </p:sp>
      <p:pic>
        <p:nvPicPr>
          <p:cNvPr id="14" name="icono-263"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64"/>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Siguiente paso: escalar a varios dispositivos con una cola de mensajes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65"/>
          <p:cNvSpPr/>
          <p:nvPr/>
        </p:nvSpPr>
        <p:spPr>
          <a:xfrm>
            <a:off x="457200" y="3931920"/>
            <a:ext cx="8229600" cy="685800"/>
          </a:xfrm>
          <a:prstGeom prst="roundRect">
            <a:avLst>
              <a:gd name="adj" fmla="val 13333"/>
            </a:avLst>
          </a:prstGeom>
          <a:solidFill>
            <a:schemeClr val="bg2"/>
          </a:solidFill>
          <a:ln/>
        </p:spPr>
      </p:sp>
      <p:sp>
        <p:nvSpPr>
          <p:cNvPr id="6" name="circulo-266"/>
          <p:cNvSpPr/>
          <p:nvPr/>
        </p:nvSpPr>
        <p:spPr>
          <a:xfrm>
            <a:off x="594360" y="4041648"/>
            <a:ext cx="457200" cy="457200"/>
          </a:xfrm>
          <a:prstGeom prst="ellipse">
            <a:avLst/>
          </a:prstGeom>
          <a:solidFill>
            <a:schemeClr val="tx1"/>
          </a:solidFill>
          <a:ln/>
        </p:spPr>
      </p:sp>
      <p:pic>
        <p:nvPicPr>
          <p:cNvPr id="7" name="icono-267"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68"/>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pruebas, evidencia y documento técnico: github.com/Facabore/practica-hsf-segundo-corte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2026-10-14T04:56:46Z</dcterms:created>
  <dcterms:modified xsi:type="dcterms:W3CDTF">2026-10-14T04:56:46Z</dcterms:modified>
</cp:coreProperties>
</file>